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89" r:id="rId3"/>
    <p:sldId id="258" r:id="rId4"/>
    <p:sldId id="279" r:id="rId5"/>
    <p:sldId id="267" r:id="rId6"/>
    <p:sldId id="268" r:id="rId7"/>
    <p:sldId id="281" r:id="rId8"/>
    <p:sldId id="269" r:id="rId9"/>
    <p:sldId id="270" r:id="rId10"/>
    <p:sldId id="260" r:id="rId11"/>
    <p:sldId id="285" r:id="rId12"/>
    <p:sldId id="263" r:id="rId13"/>
    <p:sldId id="264" r:id="rId14"/>
    <p:sldId id="287" r:id="rId15"/>
    <p:sldId id="265" r:id="rId16"/>
    <p:sldId id="284" r:id="rId17"/>
    <p:sldId id="288" r:id="rId18"/>
    <p:sldId id="261" r:id="rId19"/>
    <p:sldId id="271" r:id="rId20"/>
    <p:sldId id="262" r:id="rId21"/>
    <p:sldId id="286" r:id="rId22"/>
    <p:sldId id="272" r:id="rId23"/>
    <p:sldId id="276" r:id="rId24"/>
    <p:sldId id="275" r:id="rId25"/>
    <p:sldId id="282" r:id="rId26"/>
    <p:sldId id="273" r:id="rId27"/>
    <p:sldId id="259" r:id="rId28"/>
  </p:sldIdLst>
  <p:sldSz cx="12192000" cy="6858000"/>
  <p:notesSz cx="6858000" cy="9144000"/>
  <p:embeddedFontLst>
    <p:embeddedFont>
      <p:font typeface="Libre Baskerville" panose="02000000000000000000" pitchFamily="2" charset="0"/>
      <p:regular r:id="rId30"/>
      <p:bold r:id="rId31"/>
      <p: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81" d="100"/>
          <a:sy n="81" d="100"/>
        </p:scale>
        <p:origin x="74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53079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9</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5640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marati-tharun-kuma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Tharunkumarmarati"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20912" y="30480"/>
            <a:ext cx="12191408" cy="6858000"/>
          </a:xfrm>
          <a:prstGeom prst="rect">
            <a:avLst/>
          </a:prstGeom>
          <a:noFill/>
          <a:ln>
            <a:noFill/>
          </a:ln>
        </p:spPr>
      </p:pic>
      <p:sp>
        <p:nvSpPr>
          <p:cNvPr id="99" name="Google Shape;99;p1"/>
          <p:cNvSpPr txBox="1"/>
          <p:nvPr/>
        </p:nvSpPr>
        <p:spPr>
          <a:xfrm>
            <a:off x="2394247" y="3429000"/>
            <a:ext cx="7246189" cy="86173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US" sz="1800" b="1"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800"/>
              <a:buFont typeface="Arial"/>
              <a:buNone/>
            </a:pPr>
            <a:r>
              <a:rPr lang="en-US" sz="3200" b="1" dirty="0">
                <a:latin typeface="Times New Roman" panose="02020603050405020304" pitchFamily="18" charset="0"/>
                <a:cs typeface="Times New Roman" panose="02020603050405020304" pitchFamily="18" charset="0"/>
              </a:rPr>
              <a:t>GROCERY STORE MANAGEMENT</a:t>
            </a:r>
            <a:endParaRPr sz="32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6128B463-8A87-2B88-B1AD-48DF490E5FEE}"/>
              </a:ext>
            </a:extLst>
          </p:cNvPr>
          <p:cNvSpPr txBox="1"/>
          <p:nvPr/>
        </p:nvSpPr>
        <p:spPr>
          <a:xfrm>
            <a:off x="8173720" y="4492379"/>
            <a:ext cx="1940560" cy="461665"/>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Presented By</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85363E2-1201-C291-291D-DC6FF0B6DD44}"/>
              </a:ext>
            </a:extLst>
          </p:cNvPr>
          <p:cNvSpPr txBox="1"/>
          <p:nvPr/>
        </p:nvSpPr>
        <p:spPr>
          <a:xfrm>
            <a:off x="8121516" y="4954044"/>
            <a:ext cx="3037840" cy="1704569"/>
          </a:xfrm>
          <a:prstGeom prst="rect">
            <a:avLst/>
          </a:prstGeom>
          <a:noFill/>
        </p:spPr>
        <p:txBody>
          <a:bodyPr wrap="square" rtlCol="0">
            <a:spAutoFit/>
          </a:bodyPr>
          <a:lstStyle/>
          <a:p>
            <a:pPr>
              <a:lnSpc>
                <a:spcPct val="150000"/>
              </a:lnSpc>
            </a:pPr>
            <a:r>
              <a:rPr lang="en-US" sz="1800" dirty="0">
                <a:latin typeface="Times New Roman" panose="02020603050405020304" pitchFamily="18" charset="0"/>
                <a:cs typeface="Times New Roman" panose="02020603050405020304" pitchFamily="18" charset="0"/>
              </a:rPr>
              <a:t>Tharun Kumar Marati</a:t>
            </a:r>
          </a:p>
          <a:p>
            <a:pPr>
              <a:lnSpc>
                <a:spcPct val="150000"/>
              </a:lnSpc>
            </a:pPr>
            <a:r>
              <a:rPr lang="en-IN" sz="1800" dirty="0">
                <a:latin typeface="Times New Roman" panose="02020603050405020304" pitchFamily="18" charset="0"/>
                <a:cs typeface="Times New Roman" panose="02020603050405020304" pitchFamily="18" charset="0"/>
              </a:rPr>
              <a:t>Batch No. 442</a:t>
            </a:r>
          </a:p>
          <a:p>
            <a:pPr>
              <a:lnSpc>
                <a:spcPct val="150000"/>
              </a:lnSpc>
            </a:pPr>
            <a:r>
              <a:rPr lang="en-IN" sz="1800" dirty="0" err="1">
                <a:latin typeface="Times New Roman" panose="02020603050405020304" pitchFamily="18" charset="0"/>
                <a:cs typeface="Times New Roman" panose="02020603050405020304" pitchFamily="18" charset="0"/>
              </a:rPr>
              <a:t>Innomatics</a:t>
            </a:r>
            <a:r>
              <a:rPr lang="en-IN" sz="1800" dirty="0">
                <a:latin typeface="Times New Roman" panose="02020603050405020304" pitchFamily="18" charset="0"/>
                <a:cs typeface="Times New Roman" panose="02020603050405020304" pitchFamily="18" charset="0"/>
              </a:rPr>
              <a:t> Research Labs,</a:t>
            </a:r>
          </a:p>
          <a:p>
            <a:pPr>
              <a:lnSpc>
                <a:spcPct val="150000"/>
              </a:lnSpc>
            </a:pPr>
            <a:r>
              <a:rPr lang="en-IN" sz="1800" dirty="0" err="1">
                <a:latin typeface="Times New Roman" panose="02020603050405020304" pitchFamily="18" charset="0"/>
                <a:cs typeface="Times New Roman" panose="02020603050405020304" pitchFamily="18" charset="0"/>
              </a:rPr>
              <a:t>Dilsukhnagar</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E7E1C6-6D4E-3A87-F912-335016EEF3AE}"/>
              </a:ext>
            </a:extLst>
          </p:cNvPr>
          <p:cNvSpPr txBox="1"/>
          <p:nvPr/>
        </p:nvSpPr>
        <p:spPr>
          <a:xfrm>
            <a:off x="1056640" y="1422400"/>
            <a:ext cx="8737600" cy="2806987"/>
          </a:xfrm>
          <a:prstGeom prst="rect">
            <a:avLst/>
          </a:prstGeom>
          <a:noFill/>
        </p:spPr>
        <p:txBody>
          <a:bodyPr wrap="square">
            <a:spAutoFit/>
          </a:bodyPr>
          <a:lstStyle/>
          <a:p>
            <a:pPr marL="285750" lvl="0" indent="-323850">
              <a:lnSpc>
                <a:spcPct val="150000"/>
              </a:lnSpc>
              <a:buClr>
                <a:schemeClr val="dk1"/>
              </a:buClr>
              <a:buSzPts val="2400"/>
              <a:buFont typeface="Arial"/>
              <a:buChar char="•"/>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I am a recently c</a:t>
            </a:r>
            <a:r>
              <a:rPr lang="en-US" sz="2000" dirty="0" err="1">
                <a:latin typeface="Times New Roman" panose="02020603050405020304" pitchFamily="18" charset="0"/>
                <a:cs typeface="Times New Roman" panose="02020603050405020304" pitchFamily="18" charset="0"/>
              </a:rPr>
              <a:t>ompleted</a:t>
            </a:r>
            <a:r>
              <a:rPr lang="en-US" sz="2000" dirty="0">
                <a:latin typeface="Times New Roman" panose="02020603050405020304" pitchFamily="18" charset="0"/>
                <a:cs typeface="Times New Roman" panose="02020603050405020304" pitchFamily="18" charset="0"/>
              </a:rPr>
              <a:t> Bachelor of Technology in Computer Science and Engineering (CSE).</a:t>
            </a:r>
          </a:p>
          <a:p>
            <a:pPr marL="285750" lvl="0" indent="-323850">
              <a:lnSpc>
                <a:spcPct val="150000"/>
              </a:lnSpc>
              <a:buClr>
                <a:schemeClr val="dk1"/>
              </a:buClr>
              <a:buSzPts val="2400"/>
              <a:buFont typeface="Arial"/>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I am </a:t>
            </a:r>
            <a:r>
              <a:rPr lang="en-US" sz="2000" dirty="0">
                <a:latin typeface="Times New Roman" panose="02020603050405020304" pitchFamily="18" charset="0"/>
                <a:cs typeface="Times New Roman" panose="02020603050405020304" pitchFamily="18" charset="0"/>
              </a:rPr>
              <a:t>Passionate about analyzing data to solve real-world problems and enhance decision-making.</a:t>
            </a:r>
          </a:p>
          <a:p>
            <a:pPr marL="285750" lvl="0" indent="-323850">
              <a:lnSpc>
                <a:spcPct val="150000"/>
              </a:lnSpc>
              <a:buClr>
                <a:schemeClr val="dk1"/>
              </a:buClr>
              <a:buSzPts val="2400"/>
              <a:buFont typeface="Arial"/>
              <a:buChar char="•"/>
            </a:pPr>
            <a:r>
              <a:rPr lang="en-US" sz="2000" b="1" dirty="0">
                <a:solidFill>
                  <a:schemeClr val="dk1"/>
                </a:solidFill>
                <a:latin typeface="Times New Roman" panose="02020603050405020304" pitchFamily="18" charset="0"/>
                <a:ea typeface="Calibri"/>
                <a:cs typeface="Times New Roman" panose="02020603050405020304" pitchFamily="18" charset="0"/>
                <a:sym typeface="Calibri"/>
              </a:rPr>
              <a:t>LinkedIn</a:t>
            </a: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 </a:t>
            </a:r>
            <a:r>
              <a:rPr lang="en-US" sz="2000" dirty="0">
                <a:solidFill>
                  <a:schemeClr val="dk1"/>
                </a:solidFill>
                <a:latin typeface="Times New Roman" panose="02020603050405020304" pitchFamily="18" charset="0"/>
                <a:ea typeface="Calibri"/>
                <a:cs typeface="Times New Roman" panose="02020603050405020304" pitchFamily="18" charset="0"/>
                <a:sym typeface="Calibri"/>
                <a:hlinkClick r:id="rId3"/>
              </a:rPr>
              <a:t>http://www.linkedin.com/in/marati-tharun-kumar </a:t>
            </a:r>
            <a:endParaRPr lang="en-US" sz="2000"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lvl="0" indent="-323850">
              <a:lnSpc>
                <a:spcPct val="150000"/>
              </a:lnSpc>
              <a:buClr>
                <a:schemeClr val="dk1"/>
              </a:buClr>
              <a:buSzPts val="2400"/>
              <a:buFont typeface="Arial"/>
              <a:buChar char="•"/>
            </a:pPr>
            <a:r>
              <a:rPr lang="en-US" sz="2000" b="1" dirty="0">
                <a:solidFill>
                  <a:schemeClr val="dk1"/>
                </a:solidFill>
                <a:latin typeface="Times New Roman" panose="02020603050405020304" pitchFamily="18" charset="0"/>
                <a:ea typeface="Calibri"/>
                <a:cs typeface="Times New Roman" panose="02020603050405020304" pitchFamily="18" charset="0"/>
                <a:sym typeface="Calibri"/>
              </a:rPr>
              <a:t>GitHub: </a:t>
            </a:r>
            <a:r>
              <a:rPr lang="en-US" sz="2000" dirty="0">
                <a:solidFill>
                  <a:schemeClr val="dk1"/>
                </a:solidFill>
                <a:latin typeface="Times New Roman" panose="02020603050405020304" pitchFamily="18" charset="0"/>
                <a:ea typeface="Calibri"/>
                <a:cs typeface="Times New Roman" panose="02020603050405020304" pitchFamily="18" charset="0"/>
                <a:sym typeface="Calibri"/>
                <a:hlinkClick r:id="rId4"/>
              </a:rPr>
              <a:t>https://github.com/Tharunkumarmarati</a:t>
            </a:r>
            <a:endParaRPr lang="en-IN" sz="2000" i="1"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4" name="TextBox 3">
            <a:extLst>
              <a:ext uri="{FF2B5EF4-FFF2-40B4-BE49-F238E27FC236}">
                <a16:creationId xmlns:a16="http://schemas.microsoft.com/office/drawing/2014/main" id="{2DDB725B-CD44-C5C3-4578-417CBFEBE4FE}"/>
              </a:ext>
            </a:extLst>
          </p:cNvPr>
          <p:cNvSpPr txBox="1"/>
          <p:nvPr/>
        </p:nvSpPr>
        <p:spPr>
          <a:xfrm>
            <a:off x="985520" y="619760"/>
            <a:ext cx="1814920" cy="584775"/>
          </a:xfrm>
          <a:prstGeom prst="rect">
            <a:avLst/>
          </a:prstGeom>
          <a:noFill/>
        </p:spPr>
        <p:txBody>
          <a:bodyPr wrap="none" rtlCol="0">
            <a:spAutoFit/>
          </a:bodyPr>
          <a:lstStyle/>
          <a:p>
            <a:r>
              <a:rPr lang="en-US" sz="3200" dirty="0">
                <a:solidFill>
                  <a:srgbClr val="FF0000"/>
                </a:solidFill>
                <a:latin typeface="Times New Roman" panose="02020603050405020304" pitchFamily="18" charset="0"/>
                <a:cs typeface="Times New Roman" panose="02020603050405020304" pitchFamily="18" charset="0"/>
              </a:rPr>
              <a:t>About me</a:t>
            </a:r>
            <a:endParaRPr lang="en-IN" sz="3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039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759078" y="292663"/>
            <a:ext cx="10515600" cy="8259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3200" b="1" dirty="0">
                <a:solidFill>
                  <a:srgbClr val="FF0000"/>
                </a:solidFill>
                <a:latin typeface="Times New Roman" panose="02020603050405020304" pitchFamily="18" charset="0"/>
                <a:cs typeface="Times New Roman" panose="02020603050405020304" pitchFamily="18" charset="0"/>
              </a:rPr>
              <a:t>Agenda</a:t>
            </a:r>
            <a:endParaRPr sz="32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838200" y="1257160"/>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Problem Statement</a:t>
            </a:r>
          </a:p>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a:t>
            </a:r>
          </a:p>
          <a:p>
            <a:pPr marL="457200" lvl="0" indent="-431800" algn="l" rtl="0">
              <a:lnSpc>
                <a:spcPct val="90000"/>
              </a:lnSpc>
              <a:spcBef>
                <a:spcPts val="1000"/>
              </a:spcBef>
              <a:spcAft>
                <a:spcPts val="0"/>
              </a:spcAft>
              <a:buSzPts val="2400"/>
              <a:buChar char="•"/>
            </a:pPr>
            <a:r>
              <a:rPr lang="en-IN" sz="2400" b="1" dirty="0"/>
              <a:t>Final business insights and recommendations</a:t>
            </a:r>
          </a:p>
          <a:p>
            <a:pPr indent="-431800">
              <a:buSzPts val="2400"/>
            </a:pPr>
            <a:r>
              <a:rPr lang="en-IN" sz="2400" b="1" dirty="0"/>
              <a:t>Challenges working on SQL – Data Analysis Project.</a:t>
            </a:r>
            <a:endParaRPr sz="2400" dirty="0"/>
          </a:p>
          <a:p>
            <a:pPr marL="457200" lvl="0" indent="-431800" algn="l" rtl="0">
              <a:lnSpc>
                <a:spcPct val="90000"/>
              </a:lnSpc>
              <a:spcBef>
                <a:spcPts val="1000"/>
              </a:spcBef>
              <a:spcAft>
                <a:spcPts val="0"/>
              </a:spcAft>
              <a:buSzPts val="2400"/>
              <a:buChar char="•"/>
            </a:pPr>
            <a:r>
              <a:rPr lang="en-IN" sz="2400" b="1" dirty="0"/>
              <a:t>Conclusion</a:t>
            </a:r>
            <a:endParaRPr lang="en-IN" sz="2400" dirty="0"/>
          </a:p>
          <a:p>
            <a:pPr indent="-431800">
              <a:buSzPts val="2400"/>
            </a:pPr>
            <a:r>
              <a:rPr lang="en-IN" sz="2400" b="1" dirty="0"/>
              <a:t>Q&amp;A Slide </a:t>
            </a:r>
            <a:endParaRPr lang="en-IN" sz="2400" dirty="0"/>
          </a:p>
          <a:p>
            <a:pPr marL="457200" lvl="0" indent="-431800" algn="l" rtl="0">
              <a:lnSpc>
                <a:spcPct val="90000"/>
              </a:lnSpc>
              <a:spcBef>
                <a:spcPts val="1000"/>
              </a:spcBef>
              <a:spcAft>
                <a:spcPts val="0"/>
              </a:spcAft>
              <a:buSzPts val="2400"/>
              <a:buChar char="•"/>
            </a:pP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13CC0-9167-FBA2-5868-7B3D8695E4B8}"/>
              </a:ext>
            </a:extLst>
          </p:cNvPr>
          <p:cNvSpPr>
            <a:spLocks noGrp="1"/>
          </p:cNvSpPr>
          <p:nvPr>
            <p:ph type="title"/>
          </p:nvPr>
        </p:nvSpPr>
        <p:spPr>
          <a:xfrm>
            <a:off x="651388" y="185403"/>
            <a:ext cx="10515600" cy="1325563"/>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B5EDB557-374E-C44C-8606-13A30CFBEAA6}"/>
              </a:ext>
            </a:extLst>
          </p:cNvPr>
          <p:cNvSpPr>
            <a:spLocks noGrp="1"/>
          </p:cNvSpPr>
          <p:nvPr>
            <p:ph type="body" idx="1"/>
          </p:nvPr>
        </p:nvSpPr>
        <p:spPr>
          <a:xfrm>
            <a:off x="651388" y="1343818"/>
            <a:ext cx="10515600" cy="4351338"/>
          </a:xfrm>
        </p:spPr>
        <p:txBody>
          <a:bodyPr>
            <a:normAutofit/>
          </a:bodyPr>
          <a:lstStyle/>
          <a:p>
            <a:pPr marL="114300" indent="0">
              <a:lnSpc>
                <a:spcPct val="150000"/>
              </a:lnSpc>
              <a:buNone/>
            </a:pPr>
            <a:r>
              <a:rPr lang="en-US" sz="2000" dirty="0">
                <a:latin typeface="Times New Roman" panose="02020603050405020304" pitchFamily="18" charset="0"/>
                <a:cs typeface="Times New Roman" panose="02020603050405020304" pitchFamily="18" charset="0"/>
              </a:rPr>
              <a:t>Managing grocery store operations manually leads to challenges such as inconsistent data entry, loss of records, difficulty in tracking sales, and lack of accurate reporting. With increasing customer transactions and product variations, manual management becomes inefficient and error-prone. There is a need for a computerized database system that automates operations, ensures accuracy, and offers quick access to essential information. The Grocery Store Management System aims to provide a reliable database solution to address these challenges by organizing all operational data into a unified system.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892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8BFE5D-BAA0-C244-4732-1E5C16A3033A}"/>
              </a:ext>
            </a:extLst>
          </p:cNvPr>
          <p:cNvSpPr txBox="1"/>
          <p:nvPr/>
        </p:nvSpPr>
        <p:spPr>
          <a:xfrm>
            <a:off x="897193" y="541762"/>
            <a:ext cx="6248400" cy="800219"/>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Objective of the Project</a:t>
            </a:r>
            <a:endParaRPr lang="en-IN" sz="3200" dirty="0">
              <a:solidFill>
                <a:srgbClr val="FF0000"/>
              </a:solidFill>
              <a:latin typeface="Times New Roman" panose="02020603050405020304" pitchFamily="18" charset="0"/>
              <a:cs typeface="Times New Roman" panose="02020603050405020304" pitchFamily="18" charset="0"/>
            </a:endParaRPr>
          </a:p>
          <a:p>
            <a:endParaRPr lang="en-IN" dirty="0">
              <a:solidFill>
                <a:srgbClr val="FF0000"/>
              </a:solidFill>
            </a:endParaRPr>
          </a:p>
        </p:txBody>
      </p:sp>
      <p:sp>
        <p:nvSpPr>
          <p:cNvPr id="6" name="TextBox 5">
            <a:extLst>
              <a:ext uri="{FF2B5EF4-FFF2-40B4-BE49-F238E27FC236}">
                <a16:creationId xmlns:a16="http://schemas.microsoft.com/office/drawing/2014/main" id="{E3B7683E-690B-FEB2-6F57-257A5D0E84A6}"/>
              </a:ext>
            </a:extLst>
          </p:cNvPr>
          <p:cNvSpPr txBox="1"/>
          <p:nvPr/>
        </p:nvSpPr>
        <p:spPr>
          <a:xfrm>
            <a:off x="897193" y="1341981"/>
            <a:ext cx="10397613" cy="4893647"/>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1. To design a structured database for managing grocery store operations efficiently.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2. To simplify the tracking of products, categories, and suppliers.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3. To manage customer and order information systematically.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4. To analyze sales through order and revenue reporting.</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5. To improve decision-making with data insights.</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6. To ensure accurate transaction handling using order and </a:t>
            </a:r>
            <a:r>
              <a:rPr lang="en-US" sz="2000" dirty="0" err="1">
                <a:latin typeface="Times New Roman" panose="02020603050405020304" pitchFamily="18" charset="0"/>
                <a:cs typeface="Times New Roman" panose="02020603050405020304" pitchFamily="18" charset="0"/>
              </a:rPr>
              <a:t>order_details</a:t>
            </a:r>
            <a:r>
              <a:rPr lang="en-US" sz="2000" dirty="0">
                <a:latin typeface="Times New Roman" panose="02020603050405020304" pitchFamily="18" charset="0"/>
                <a:cs typeface="Times New Roman" panose="02020603050405020304" pitchFamily="18" charset="0"/>
              </a:rPr>
              <a:t> tables.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7. To apply SQL concepts such as joins, constraints, grouping, and aggregate functions.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8. To automate and streamline store management processes.</a:t>
            </a:r>
          </a:p>
          <a:p>
            <a:endParaRPr lang="en-IN" sz="1200" dirty="0"/>
          </a:p>
        </p:txBody>
      </p:sp>
    </p:spTree>
    <p:extLst>
      <p:ext uri="{BB962C8B-B14F-4D97-AF65-F5344CB8AC3E}">
        <p14:creationId xmlns:p14="http://schemas.microsoft.com/office/powerpoint/2010/main" val="1488358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B7C63BB-BEA4-BD89-2664-1F0ACF4FE189}"/>
              </a:ext>
            </a:extLst>
          </p:cNvPr>
          <p:cNvSpPr txBox="1"/>
          <p:nvPr/>
        </p:nvSpPr>
        <p:spPr>
          <a:xfrm>
            <a:off x="4896452" y="306425"/>
            <a:ext cx="195975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ER Diagram </a:t>
            </a:r>
            <a:endParaRPr lang="en-IN" sz="2400" b="1" dirty="0">
              <a:latin typeface="Times New Roman" panose="02020603050405020304" pitchFamily="18" charset="0"/>
              <a:cs typeface="Times New Roman" panose="02020603050405020304" pitchFamily="18" charset="0"/>
            </a:endParaRPr>
          </a:p>
        </p:txBody>
      </p:sp>
      <p:pic>
        <p:nvPicPr>
          <p:cNvPr id="8" name="Picture 7" descr="A screenshot of a computer&#10;&#10;AI-generated content may be incorrect.">
            <a:extLst>
              <a:ext uri="{FF2B5EF4-FFF2-40B4-BE49-F238E27FC236}">
                <a16:creationId xmlns:a16="http://schemas.microsoft.com/office/drawing/2014/main" id="{490EBC5D-D2EC-BE7E-FC6E-1FCDBD82C247}"/>
              </a:ext>
            </a:extLst>
          </p:cNvPr>
          <p:cNvPicPr>
            <a:picLocks noChangeAspect="1"/>
          </p:cNvPicPr>
          <p:nvPr/>
        </p:nvPicPr>
        <p:blipFill>
          <a:blip r:embed="rId2"/>
          <a:stretch>
            <a:fillRect/>
          </a:stretch>
        </p:blipFill>
        <p:spPr>
          <a:xfrm>
            <a:off x="1638769" y="911732"/>
            <a:ext cx="8914462" cy="5302255"/>
          </a:xfrm>
          <a:prstGeom prst="rect">
            <a:avLst/>
          </a:prstGeom>
          <a:ln>
            <a:solidFill>
              <a:schemeClr val="tx2">
                <a:lumMod val="50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24122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46B60-D965-24DA-8FA4-CFAAA0CE05E1}"/>
              </a:ext>
            </a:extLst>
          </p:cNvPr>
          <p:cNvSpPr>
            <a:spLocks noGrp="1"/>
          </p:cNvSpPr>
          <p:nvPr>
            <p:ph type="title"/>
          </p:nvPr>
        </p:nvSpPr>
        <p:spPr>
          <a:xfrm>
            <a:off x="759542" y="612211"/>
            <a:ext cx="5513439" cy="775416"/>
          </a:xfrm>
        </p:spPr>
        <p:txBody>
          <a:bodyPr>
            <a:normAutofit fontScale="90000"/>
          </a:bodyPr>
          <a:lstStyle/>
          <a:p>
            <a:r>
              <a:rPr lang="en-IN" sz="3600" b="1" dirty="0">
                <a:solidFill>
                  <a:srgbClr val="FF0000"/>
                </a:solidFill>
                <a:latin typeface="Times New Roman" panose="02020603050405020304" pitchFamily="18" charset="0"/>
                <a:cs typeface="Times New Roman" panose="02020603050405020304" pitchFamily="18" charset="0"/>
              </a:rPr>
              <a:t>Database Schema</a:t>
            </a:r>
            <a:br>
              <a:rPr lang="en-IN" sz="3200" b="1" dirty="0">
                <a:solidFill>
                  <a:srgbClr val="FF0000"/>
                </a:solidFill>
              </a:rPr>
            </a:br>
            <a:endParaRPr lang="en-IN" sz="3200" dirty="0"/>
          </a:p>
        </p:txBody>
      </p:sp>
      <p:sp>
        <p:nvSpPr>
          <p:cNvPr id="3" name="Text Placeholder 2">
            <a:extLst>
              <a:ext uri="{FF2B5EF4-FFF2-40B4-BE49-F238E27FC236}">
                <a16:creationId xmlns:a16="http://schemas.microsoft.com/office/drawing/2014/main" id="{EBB5FCAA-4296-4FBF-0B9E-9E70F8AF3434}"/>
              </a:ext>
            </a:extLst>
          </p:cNvPr>
          <p:cNvSpPr>
            <a:spLocks noGrp="1"/>
          </p:cNvSpPr>
          <p:nvPr>
            <p:ph type="body" idx="1"/>
          </p:nvPr>
        </p:nvSpPr>
        <p:spPr>
          <a:xfrm>
            <a:off x="838200" y="1253331"/>
            <a:ext cx="10515600" cy="4488708"/>
          </a:xfrm>
        </p:spPr>
        <p:txBody>
          <a:bodyPr>
            <a:normAutofit fontScale="92500" lnSpcReduction="20000"/>
          </a:bodyPr>
          <a:lstStyle/>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database schema for the Grocery Store Management System is designed using a fully relational structure that organizes all key components of the store into seven interconnected tables - </a:t>
            </a:r>
            <a:r>
              <a:rPr lang="en-US" sz="2000" b="1" dirty="0">
                <a:latin typeface="Times New Roman" panose="02020603050405020304" pitchFamily="18" charset="0"/>
                <a:cs typeface="Times New Roman" panose="02020603050405020304" pitchFamily="18" charset="0"/>
              </a:rPr>
              <a:t>customers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employees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suppliers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categories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products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orders</a:t>
            </a:r>
            <a:r>
              <a:rPr lang="en-US" sz="2000" dirty="0">
                <a:latin typeface="Times New Roman" panose="02020603050405020304" pitchFamily="18" charset="0"/>
                <a:cs typeface="Times New Roman" panose="02020603050405020304" pitchFamily="18" charset="0"/>
              </a:rPr>
              <a:t>, and </a:t>
            </a:r>
            <a:r>
              <a:rPr lang="en-US" sz="2000" b="1" dirty="0" err="1">
                <a:latin typeface="Times New Roman" panose="02020603050405020304" pitchFamily="18" charset="0"/>
                <a:cs typeface="Times New Roman" panose="02020603050405020304" pitchFamily="18" charset="0"/>
              </a:rPr>
              <a:t>order_details</a:t>
            </a:r>
            <a:r>
              <a:rPr lang="en-US" sz="20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Each table represents a specific entity, and relationships are maintained through primary and foreign keys to ensure data integrity and eliminate redundancy.</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Customers and employees link to the orders they place or process, while products are connected to their respective suppliers and categories for proper classification. </a:t>
            </a:r>
          </a:p>
          <a:p>
            <a:pPr>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order_details</a:t>
            </a:r>
            <a:r>
              <a:rPr lang="en-US" sz="2000" dirty="0">
                <a:latin typeface="Times New Roman" panose="02020603050405020304" pitchFamily="18" charset="0"/>
                <a:cs typeface="Times New Roman" panose="02020603050405020304" pitchFamily="18" charset="0"/>
              </a:rPr>
              <a:t> table captures item-level purchase information, enabling accurate billing and detailed sales analysis. Overall, the schema provides a clear, efficient, and scalable structure for managing store operations and supporting analytical queries.</a:t>
            </a:r>
          </a:p>
          <a:p>
            <a:pPr marL="114300" indent="0">
              <a:buNone/>
            </a:pPr>
            <a:endParaRPr lang="en-IN" dirty="0"/>
          </a:p>
        </p:txBody>
      </p:sp>
    </p:spTree>
    <p:extLst>
      <p:ext uri="{BB962C8B-B14F-4D97-AF65-F5344CB8AC3E}">
        <p14:creationId xmlns:p14="http://schemas.microsoft.com/office/powerpoint/2010/main" val="2644324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738D79D4-E17F-D1C8-D90C-DEBFA81102A4}"/>
              </a:ext>
            </a:extLst>
          </p:cNvPr>
          <p:cNvPicPr>
            <a:picLocks noChangeAspect="1"/>
          </p:cNvPicPr>
          <p:nvPr/>
        </p:nvPicPr>
        <p:blipFill>
          <a:blip r:embed="rId2"/>
          <a:stretch>
            <a:fillRect/>
          </a:stretch>
        </p:blipFill>
        <p:spPr>
          <a:xfrm>
            <a:off x="696525" y="2032104"/>
            <a:ext cx="4728030" cy="1079794"/>
          </a:xfrm>
          <a:prstGeom prst="rect">
            <a:avLst/>
          </a:prstGeom>
          <a:effectLst>
            <a:outerShdw blurRad="50800" dist="38100" dir="2700000" algn="tl" rotWithShape="0">
              <a:prstClr val="black">
                <a:alpha val="40000"/>
              </a:prstClr>
            </a:outerShdw>
          </a:effectLst>
        </p:spPr>
      </p:pic>
      <p:pic>
        <p:nvPicPr>
          <p:cNvPr id="23" name="Picture 22" descr="A screenshot of a computer&#10;&#10;AI-generated content may be incorrect.">
            <a:extLst>
              <a:ext uri="{FF2B5EF4-FFF2-40B4-BE49-F238E27FC236}">
                <a16:creationId xmlns:a16="http://schemas.microsoft.com/office/drawing/2014/main" id="{95457D68-BD97-7ADC-8FDC-F5C74F9C0C79}"/>
              </a:ext>
            </a:extLst>
          </p:cNvPr>
          <p:cNvPicPr>
            <a:picLocks noChangeAspect="1"/>
          </p:cNvPicPr>
          <p:nvPr/>
        </p:nvPicPr>
        <p:blipFill>
          <a:blip r:embed="rId3"/>
          <a:stretch>
            <a:fillRect/>
          </a:stretch>
        </p:blipFill>
        <p:spPr>
          <a:xfrm>
            <a:off x="6336109" y="4435316"/>
            <a:ext cx="5201372" cy="1200317"/>
          </a:xfrm>
          <a:prstGeom prst="rect">
            <a:avLst/>
          </a:prstGeom>
          <a:effectLst>
            <a:outerShdw blurRad="50800" dist="38100" dir="5400000" algn="t" rotWithShape="0">
              <a:prstClr val="black">
                <a:alpha val="40000"/>
              </a:prstClr>
            </a:outerShdw>
          </a:effectLst>
        </p:spPr>
      </p:pic>
      <p:pic>
        <p:nvPicPr>
          <p:cNvPr id="25" name="Picture 24" descr="A screenshot of a computer&#10;&#10;AI-generated content may be incorrect.">
            <a:extLst>
              <a:ext uri="{FF2B5EF4-FFF2-40B4-BE49-F238E27FC236}">
                <a16:creationId xmlns:a16="http://schemas.microsoft.com/office/drawing/2014/main" id="{6D07262A-A2EA-27B4-6D4F-BBF2F93AB56C}"/>
              </a:ext>
            </a:extLst>
          </p:cNvPr>
          <p:cNvPicPr>
            <a:picLocks noChangeAspect="1"/>
          </p:cNvPicPr>
          <p:nvPr/>
        </p:nvPicPr>
        <p:blipFill>
          <a:blip r:embed="rId4"/>
          <a:stretch>
            <a:fillRect/>
          </a:stretch>
        </p:blipFill>
        <p:spPr>
          <a:xfrm>
            <a:off x="6168532" y="2048595"/>
            <a:ext cx="5170594" cy="1200316"/>
          </a:xfrm>
          <a:prstGeom prst="rect">
            <a:avLst/>
          </a:prstGeom>
          <a:effectLst>
            <a:outerShdw blurRad="50800" dist="38100" dir="2700000" algn="tl" rotWithShape="0">
              <a:prstClr val="black">
                <a:alpha val="40000"/>
              </a:prstClr>
            </a:outerShdw>
          </a:effectLst>
        </p:spPr>
      </p:pic>
      <p:sp>
        <p:nvSpPr>
          <p:cNvPr id="30" name="TextBox 29">
            <a:extLst>
              <a:ext uri="{FF2B5EF4-FFF2-40B4-BE49-F238E27FC236}">
                <a16:creationId xmlns:a16="http://schemas.microsoft.com/office/drawing/2014/main" id="{E25B38BF-5C23-262B-3AA5-D9DDF3347EF6}"/>
              </a:ext>
            </a:extLst>
          </p:cNvPr>
          <p:cNvSpPr txBox="1"/>
          <p:nvPr/>
        </p:nvSpPr>
        <p:spPr>
          <a:xfrm>
            <a:off x="5190705" y="301242"/>
            <a:ext cx="3185651" cy="584775"/>
          </a:xfrm>
          <a:prstGeom prst="rect">
            <a:avLst/>
          </a:prstGeom>
          <a:noFill/>
        </p:spPr>
        <p:txBody>
          <a:bodyPr wrap="squar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Tables</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4CFD556D-CB52-9C19-9F57-3366DEC2C2A3}"/>
              </a:ext>
            </a:extLst>
          </p:cNvPr>
          <p:cNvSpPr txBox="1"/>
          <p:nvPr/>
        </p:nvSpPr>
        <p:spPr>
          <a:xfrm>
            <a:off x="627699" y="1409356"/>
            <a:ext cx="2153264"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Customer Table</a:t>
            </a:r>
            <a:endParaRPr lang="en-IN" sz="2000" b="1"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1716AAF2-8585-F07B-EB6B-24014107A5C7}"/>
              </a:ext>
            </a:extLst>
          </p:cNvPr>
          <p:cNvSpPr txBox="1"/>
          <p:nvPr/>
        </p:nvSpPr>
        <p:spPr>
          <a:xfrm>
            <a:off x="6783531" y="1448318"/>
            <a:ext cx="2153264"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Employee Table</a:t>
            </a:r>
            <a:endParaRPr lang="en-IN" sz="2000" b="1"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6119BAC1-8B46-ABEB-F37D-3853DA0866FB}"/>
              </a:ext>
            </a:extLst>
          </p:cNvPr>
          <p:cNvSpPr txBox="1"/>
          <p:nvPr/>
        </p:nvSpPr>
        <p:spPr>
          <a:xfrm>
            <a:off x="6783531" y="3826449"/>
            <a:ext cx="2153264"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Supplier</a:t>
            </a:r>
            <a:r>
              <a:rPr lang="en-US" sz="2000" b="1" dirty="0"/>
              <a:t> Table</a:t>
            </a:r>
            <a:endParaRPr lang="en-IN" sz="2000" b="1" dirty="0"/>
          </a:p>
        </p:txBody>
      </p:sp>
      <p:pic>
        <p:nvPicPr>
          <p:cNvPr id="17" name="Picture 16" descr="A screenshot of a computer&#10;&#10;AI-generated content may be incorrect.">
            <a:extLst>
              <a:ext uri="{FF2B5EF4-FFF2-40B4-BE49-F238E27FC236}">
                <a16:creationId xmlns:a16="http://schemas.microsoft.com/office/drawing/2014/main" id="{66CF89EE-E764-17A0-8D75-C9E80AD01BD6}"/>
              </a:ext>
            </a:extLst>
          </p:cNvPr>
          <p:cNvPicPr>
            <a:picLocks noChangeAspect="1"/>
          </p:cNvPicPr>
          <p:nvPr/>
        </p:nvPicPr>
        <p:blipFill>
          <a:blip r:embed="rId5"/>
          <a:stretch>
            <a:fillRect/>
          </a:stretch>
        </p:blipFill>
        <p:spPr>
          <a:xfrm>
            <a:off x="696525" y="4435316"/>
            <a:ext cx="4853725" cy="1071317"/>
          </a:xfrm>
          <a:prstGeom prst="rect">
            <a:avLst/>
          </a:prstGeom>
          <a:effectLst>
            <a:outerShdw blurRad="50800" dist="38100" dir="5400000" algn="t" rotWithShape="0">
              <a:prstClr val="black">
                <a:alpha val="40000"/>
              </a:prstClr>
            </a:outerShdw>
          </a:effectLst>
        </p:spPr>
      </p:pic>
      <p:sp>
        <p:nvSpPr>
          <p:cNvPr id="18" name="TextBox 17">
            <a:extLst>
              <a:ext uri="{FF2B5EF4-FFF2-40B4-BE49-F238E27FC236}">
                <a16:creationId xmlns:a16="http://schemas.microsoft.com/office/drawing/2014/main" id="{1454A2CD-3106-2FA7-9E3D-8C1B389AE9AE}"/>
              </a:ext>
            </a:extLst>
          </p:cNvPr>
          <p:cNvSpPr txBox="1"/>
          <p:nvPr/>
        </p:nvSpPr>
        <p:spPr>
          <a:xfrm>
            <a:off x="696525" y="3812823"/>
            <a:ext cx="215326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Category Table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7511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16A30876-622F-DFC7-DD0E-08527F713F17}"/>
              </a:ext>
            </a:extLst>
          </p:cNvPr>
          <p:cNvPicPr>
            <a:picLocks noChangeAspect="1"/>
          </p:cNvPicPr>
          <p:nvPr/>
        </p:nvPicPr>
        <p:blipFill>
          <a:blip r:embed="rId3"/>
          <a:stretch>
            <a:fillRect/>
          </a:stretch>
        </p:blipFill>
        <p:spPr>
          <a:xfrm>
            <a:off x="761853" y="1324951"/>
            <a:ext cx="4759273" cy="1505160"/>
          </a:xfrm>
          <a:prstGeom prst="rect">
            <a:avLst/>
          </a:prstGeom>
          <a:effectLst>
            <a:outerShdw blurRad="50800" dist="38100" dir="5400000" algn="t" rotWithShape="0">
              <a:prstClr val="black">
                <a:alpha val="40000"/>
              </a:prstClr>
            </a:outerShdw>
          </a:effectLst>
        </p:spPr>
      </p:pic>
      <p:pic>
        <p:nvPicPr>
          <p:cNvPr id="6" name="Picture 5" descr="A screenshot of a computer&#10;&#10;AI-generated content may be incorrect.">
            <a:extLst>
              <a:ext uri="{FF2B5EF4-FFF2-40B4-BE49-F238E27FC236}">
                <a16:creationId xmlns:a16="http://schemas.microsoft.com/office/drawing/2014/main" id="{7B568AB3-EEEA-8F12-1E7D-420FF77E87BB}"/>
              </a:ext>
            </a:extLst>
          </p:cNvPr>
          <p:cNvPicPr>
            <a:picLocks noChangeAspect="1"/>
          </p:cNvPicPr>
          <p:nvPr/>
        </p:nvPicPr>
        <p:blipFill>
          <a:blip r:embed="rId4"/>
          <a:stretch>
            <a:fillRect/>
          </a:stretch>
        </p:blipFill>
        <p:spPr>
          <a:xfrm>
            <a:off x="3452263" y="4532447"/>
            <a:ext cx="5287474" cy="1657581"/>
          </a:xfrm>
          <a:prstGeom prst="rect">
            <a:avLst/>
          </a:prstGeom>
          <a:effectLst>
            <a:outerShdw blurRad="50800" dist="38100" dir="5400000" algn="t" rotWithShape="0">
              <a:prstClr val="black">
                <a:alpha val="40000"/>
              </a:prstClr>
            </a:outerShdw>
          </a:effectLst>
        </p:spPr>
      </p:pic>
      <p:sp>
        <p:nvSpPr>
          <p:cNvPr id="8" name="TextBox 7">
            <a:extLst>
              <a:ext uri="{FF2B5EF4-FFF2-40B4-BE49-F238E27FC236}">
                <a16:creationId xmlns:a16="http://schemas.microsoft.com/office/drawing/2014/main" id="{31C66DE7-9D6F-5196-FB09-AAFE714884ED}"/>
              </a:ext>
            </a:extLst>
          </p:cNvPr>
          <p:cNvSpPr txBox="1"/>
          <p:nvPr/>
        </p:nvSpPr>
        <p:spPr>
          <a:xfrm>
            <a:off x="688256" y="652481"/>
            <a:ext cx="215326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Products Table</a:t>
            </a:r>
            <a:endParaRPr lang="en-IN" sz="20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C1FC7A5-7DD4-5D04-89DD-D88277D9C82C}"/>
              </a:ext>
            </a:extLst>
          </p:cNvPr>
          <p:cNvSpPr txBox="1"/>
          <p:nvPr/>
        </p:nvSpPr>
        <p:spPr>
          <a:xfrm>
            <a:off x="5112628" y="3942320"/>
            <a:ext cx="2153265" cy="400110"/>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Order_details</a:t>
            </a:r>
            <a:endParaRPr lang="en-IN" sz="2000" b="1" dirty="0">
              <a:latin typeface="Times New Roman" panose="02020603050405020304" pitchFamily="18" charset="0"/>
              <a:cs typeface="Times New Roman" panose="02020603050405020304" pitchFamily="18" charset="0"/>
            </a:endParaRPr>
          </a:p>
        </p:txBody>
      </p:sp>
      <p:pic>
        <p:nvPicPr>
          <p:cNvPr id="24" name="Picture 23" descr="A screenshot of a computer&#10;&#10;AI-generated content may be incorrect.">
            <a:extLst>
              <a:ext uri="{FF2B5EF4-FFF2-40B4-BE49-F238E27FC236}">
                <a16:creationId xmlns:a16="http://schemas.microsoft.com/office/drawing/2014/main" id="{A4606B8F-97FC-9681-77BE-F91D3923DA02}"/>
              </a:ext>
            </a:extLst>
          </p:cNvPr>
          <p:cNvPicPr>
            <a:picLocks noChangeAspect="1"/>
          </p:cNvPicPr>
          <p:nvPr/>
        </p:nvPicPr>
        <p:blipFill>
          <a:blip r:embed="rId5"/>
          <a:stretch>
            <a:fillRect/>
          </a:stretch>
        </p:blipFill>
        <p:spPr>
          <a:xfrm>
            <a:off x="6189260" y="1324951"/>
            <a:ext cx="4707375" cy="1315143"/>
          </a:xfrm>
          <a:prstGeom prst="rect">
            <a:avLst/>
          </a:prstGeom>
          <a:effectLst>
            <a:outerShdw blurRad="50800" dist="38100" dir="5400000" algn="t" rotWithShape="0">
              <a:prstClr val="black">
                <a:alpha val="40000"/>
              </a:prstClr>
            </a:outerShdw>
          </a:effectLst>
        </p:spPr>
      </p:pic>
      <p:sp>
        <p:nvSpPr>
          <p:cNvPr id="25" name="TextBox 24">
            <a:extLst>
              <a:ext uri="{FF2B5EF4-FFF2-40B4-BE49-F238E27FC236}">
                <a16:creationId xmlns:a16="http://schemas.microsoft.com/office/drawing/2014/main" id="{24938937-67E7-B488-7544-3B6BE22E3549}"/>
              </a:ext>
            </a:extLst>
          </p:cNvPr>
          <p:cNvSpPr txBox="1"/>
          <p:nvPr/>
        </p:nvSpPr>
        <p:spPr>
          <a:xfrm>
            <a:off x="6096000" y="648847"/>
            <a:ext cx="2153264"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Orders Table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2514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20C28F-D5FB-B53D-D881-9F232D0862C5}"/>
              </a:ext>
            </a:extLst>
          </p:cNvPr>
          <p:cNvSpPr txBox="1"/>
          <p:nvPr/>
        </p:nvSpPr>
        <p:spPr>
          <a:xfrm>
            <a:off x="745445" y="1255950"/>
            <a:ext cx="623365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How many unique customers have placed orders?</a:t>
            </a:r>
            <a:endParaRPr lang="en-IN" sz="2000" b="1" dirty="0">
              <a:latin typeface="Times New Roman" panose="02020603050405020304" pitchFamily="18" charset="0"/>
              <a:cs typeface="Times New Roman" panose="02020603050405020304" pitchFamily="18" charset="0"/>
            </a:endParaRPr>
          </a:p>
        </p:txBody>
      </p:sp>
      <p:pic>
        <p:nvPicPr>
          <p:cNvPr id="8" name="Picture 7" descr="A computer code on a white background&#10;&#10;AI-generated content may be incorrect.">
            <a:extLst>
              <a:ext uri="{FF2B5EF4-FFF2-40B4-BE49-F238E27FC236}">
                <a16:creationId xmlns:a16="http://schemas.microsoft.com/office/drawing/2014/main" id="{464EDF7C-6721-2418-502B-98FC6F7A84CE}"/>
              </a:ext>
            </a:extLst>
          </p:cNvPr>
          <p:cNvPicPr>
            <a:picLocks noChangeAspect="1"/>
          </p:cNvPicPr>
          <p:nvPr/>
        </p:nvPicPr>
        <p:blipFill>
          <a:blip r:embed="rId2"/>
          <a:srcRect l="2754" t="11143" r="19492" b="12278"/>
          <a:stretch>
            <a:fillRect/>
          </a:stretch>
        </p:blipFill>
        <p:spPr>
          <a:xfrm>
            <a:off x="745445" y="1656060"/>
            <a:ext cx="5879691" cy="1445342"/>
          </a:xfrm>
          <a:prstGeom prst="rect">
            <a:avLst/>
          </a:prstGeom>
        </p:spPr>
      </p:pic>
      <p:pic>
        <p:nvPicPr>
          <p:cNvPr id="12" name="Picture 11" descr="A close up of a text&#10;&#10;AI-generated content may be incorrect.">
            <a:extLst>
              <a:ext uri="{FF2B5EF4-FFF2-40B4-BE49-F238E27FC236}">
                <a16:creationId xmlns:a16="http://schemas.microsoft.com/office/drawing/2014/main" id="{28909747-4E49-9A4A-714E-0221D3DC23AF}"/>
              </a:ext>
            </a:extLst>
          </p:cNvPr>
          <p:cNvPicPr>
            <a:picLocks noChangeAspect="1"/>
          </p:cNvPicPr>
          <p:nvPr/>
        </p:nvPicPr>
        <p:blipFill>
          <a:blip r:embed="rId3"/>
          <a:srcRect l="752" t="3136" b="18512"/>
          <a:stretch>
            <a:fillRect/>
          </a:stretch>
        </p:blipFill>
        <p:spPr>
          <a:xfrm>
            <a:off x="8061588" y="1656060"/>
            <a:ext cx="2242618" cy="651983"/>
          </a:xfrm>
          <a:prstGeom prst="rect">
            <a:avLst/>
          </a:prstGeom>
          <a:ln w="19050">
            <a:solidFill>
              <a:schemeClr val="tx2">
                <a:lumMod val="50000"/>
              </a:schemeClr>
            </a:solidFill>
          </a:ln>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64A2519A-CFE2-624C-CE4A-4BF39014DD52}"/>
              </a:ext>
            </a:extLst>
          </p:cNvPr>
          <p:cNvSpPr txBox="1"/>
          <p:nvPr/>
        </p:nvSpPr>
        <p:spPr>
          <a:xfrm>
            <a:off x="589101" y="376207"/>
            <a:ext cx="4129657" cy="584775"/>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Key analysis questions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03890A7-DD9E-1073-876C-801B3E40B9F7}"/>
              </a:ext>
            </a:extLst>
          </p:cNvPr>
          <p:cNvSpPr txBox="1"/>
          <p:nvPr/>
        </p:nvSpPr>
        <p:spPr>
          <a:xfrm>
            <a:off x="745445" y="3800525"/>
            <a:ext cx="5046574"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How many orders have been placed in total?</a:t>
            </a:r>
            <a:endParaRPr lang="en-IN" sz="2000" b="1" dirty="0">
              <a:latin typeface="Times New Roman" panose="02020603050405020304" pitchFamily="18" charset="0"/>
              <a:cs typeface="Times New Roman" panose="02020603050405020304" pitchFamily="18" charset="0"/>
            </a:endParaRPr>
          </a:p>
        </p:txBody>
      </p:sp>
      <p:pic>
        <p:nvPicPr>
          <p:cNvPr id="9" name="Picture 8" descr="A close-up of a computer code&#10;&#10;AI-generated content may be incorrect.">
            <a:extLst>
              <a:ext uri="{FF2B5EF4-FFF2-40B4-BE49-F238E27FC236}">
                <a16:creationId xmlns:a16="http://schemas.microsoft.com/office/drawing/2014/main" id="{6205C2C8-F2B8-7B7E-991F-907A3FA0A51D}"/>
              </a:ext>
            </a:extLst>
          </p:cNvPr>
          <p:cNvPicPr>
            <a:picLocks noChangeAspect="1"/>
          </p:cNvPicPr>
          <p:nvPr/>
        </p:nvPicPr>
        <p:blipFill>
          <a:blip r:embed="rId4"/>
          <a:stretch>
            <a:fillRect/>
          </a:stretch>
        </p:blipFill>
        <p:spPr>
          <a:xfrm>
            <a:off x="745445" y="4486405"/>
            <a:ext cx="4567492" cy="1431069"/>
          </a:xfrm>
          <a:prstGeom prst="rect">
            <a:avLst/>
          </a:prstGeom>
        </p:spPr>
      </p:pic>
      <p:pic>
        <p:nvPicPr>
          <p:cNvPr id="11" name="Picture 10" descr="A close-up of a website&#10;&#10;AI-generated content may be incorrect.">
            <a:extLst>
              <a:ext uri="{FF2B5EF4-FFF2-40B4-BE49-F238E27FC236}">
                <a16:creationId xmlns:a16="http://schemas.microsoft.com/office/drawing/2014/main" id="{7B26949C-4445-8E77-B3FC-71FDE43E0341}"/>
              </a:ext>
            </a:extLst>
          </p:cNvPr>
          <p:cNvPicPr>
            <a:picLocks noChangeAspect="1"/>
          </p:cNvPicPr>
          <p:nvPr/>
        </p:nvPicPr>
        <p:blipFill>
          <a:blip r:embed="rId5"/>
          <a:stretch>
            <a:fillRect/>
          </a:stretch>
        </p:blipFill>
        <p:spPr>
          <a:xfrm>
            <a:off x="8227149" y="4486404"/>
            <a:ext cx="2358619" cy="715536"/>
          </a:xfrm>
          <a:prstGeom prst="rect">
            <a:avLst/>
          </a:prstGeom>
          <a:ln w="19050">
            <a:solidFill>
              <a:schemeClr val="tx2">
                <a:lumMod val="50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50893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7D59D04B-E10B-5B06-8ED3-6463883D5455}"/>
              </a:ext>
            </a:extLst>
          </p:cNvPr>
          <p:cNvPicPr>
            <a:picLocks noChangeAspect="1"/>
          </p:cNvPicPr>
          <p:nvPr/>
        </p:nvPicPr>
        <p:blipFill>
          <a:blip r:embed="rId2"/>
          <a:srcRect t="1928"/>
          <a:stretch>
            <a:fillRect/>
          </a:stretch>
        </p:blipFill>
        <p:spPr>
          <a:xfrm>
            <a:off x="7155808" y="1307691"/>
            <a:ext cx="4013637" cy="1847970"/>
          </a:xfrm>
          <a:prstGeom prst="rect">
            <a:avLst/>
          </a:prstGeom>
          <a:ln>
            <a:solidFill>
              <a:schemeClr val="tx2">
                <a:lumMod val="50000"/>
              </a:schemeClr>
            </a:solidFill>
          </a:ln>
          <a:effectLst>
            <a:outerShdw blurRad="63500" sx="102000" sy="102000" algn="ctr" rotWithShape="0">
              <a:prstClr val="black">
                <a:alpha val="40000"/>
              </a:prstClr>
            </a:outerShdw>
          </a:effectLst>
        </p:spPr>
      </p:pic>
      <p:sp>
        <p:nvSpPr>
          <p:cNvPr id="4" name="TextBox 3">
            <a:extLst>
              <a:ext uri="{FF2B5EF4-FFF2-40B4-BE49-F238E27FC236}">
                <a16:creationId xmlns:a16="http://schemas.microsoft.com/office/drawing/2014/main" id="{7DA5B3E7-02E1-5AD5-1618-05F90638E076}"/>
              </a:ext>
            </a:extLst>
          </p:cNvPr>
          <p:cNvSpPr txBox="1"/>
          <p:nvPr/>
        </p:nvSpPr>
        <p:spPr>
          <a:xfrm>
            <a:off x="601102" y="575904"/>
            <a:ext cx="6312947"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Who are the top 5 customers by total purchase amount?</a:t>
            </a:r>
            <a:endParaRPr lang="en-IN" sz="2000" b="1" dirty="0">
              <a:latin typeface="Times New Roman" panose="02020603050405020304" pitchFamily="18" charset="0"/>
              <a:cs typeface="Times New Roman" panose="02020603050405020304" pitchFamily="18" charset="0"/>
            </a:endParaRPr>
          </a:p>
        </p:txBody>
      </p:sp>
      <p:pic>
        <p:nvPicPr>
          <p:cNvPr id="6" name="Picture 5" descr="A screenshot of a computer code&#10;&#10;AI-generated content may be incorrect.">
            <a:extLst>
              <a:ext uri="{FF2B5EF4-FFF2-40B4-BE49-F238E27FC236}">
                <a16:creationId xmlns:a16="http://schemas.microsoft.com/office/drawing/2014/main" id="{F8305126-EC11-7100-11CD-99895BE65776}"/>
              </a:ext>
            </a:extLst>
          </p:cNvPr>
          <p:cNvPicPr>
            <a:picLocks noChangeAspect="1"/>
          </p:cNvPicPr>
          <p:nvPr/>
        </p:nvPicPr>
        <p:blipFill>
          <a:blip r:embed="rId3"/>
          <a:stretch>
            <a:fillRect/>
          </a:stretch>
        </p:blipFill>
        <p:spPr>
          <a:xfrm>
            <a:off x="843616" y="1236019"/>
            <a:ext cx="4654698" cy="4034072"/>
          </a:xfrm>
          <a:prstGeom prst="rect">
            <a:avLst/>
          </a:prstGeom>
        </p:spPr>
      </p:pic>
    </p:spTree>
    <p:extLst>
      <p:ext uri="{BB962C8B-B14F-4D97-AF65-F5344CB8AC3E}">
        <p14:creationId xmlns:p14="http://schemas.microsoft.com/office/powerpoint/2010/main" val="165796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code&#10;&#10;AI-generated content may be incorrect.">
            <a:extLst>
              <a:ext uri="{FF2B5EF4-FFF2-40B4-BE49-F238E27FC236}">
                <a16:creationId xmlns:a16="http://schemas.microsoft.com/office/drawing/2014/main" id="{869EFB3D-095F-3FFC-3BBC-F88E1ADF7781}"/>
              </a:ext>
            </a:extLst>
          </p:cNvPr>
          <p:cNvPicPr>
            <a:picLocks noChangeAspect="1"/>
          </p:cNvPicPr>
          <p:nvPr/>
        </p:nvPicPr>
        <p:blipFill>
          <a:blip r:embed="rId2"/>
          <a:stretch>
            <a:fillRect/>
          </a:stretch>
        </p:blipFill>
        <p:spPr>
          <a:xfrm>
            <a:off x="589934" y="1099896"/>
            <a:ext cx="5643717" cy="3979261"/>
          </a:xfrm>
          <a:prstGeom prst="rect">
            <a:avLst/>
          </a:prstGeom>
        </p:spPr>
      </p:pic>
      <p:sp>
        <p:nvSpPr>
          <p:cNvPr id="4" name="TextBox 3">
            <a:extLst>
              <a:ext uri="{FF2B5EF4-FFF2-40B4-BE49-F238E27FC236}">
                <a16:creationId xmlns:a16="http://schemas.microsoft.com/office/drawing/2014/main" id="{C39D1E54-B72C-B3C3-3372-8ACFD262B4A9}"/>
              </a:ext>
            </a:extLst>
          </p:cNvPr>
          <p:cNvSpPr txBox="1"/>
          <p:nvPr/>
        </p:nvSpPr>
        <p:spPr>
          <a:xfrm>
            <a:off x="589934" y="582178"/>
            <a:ext cx="7197212"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What is the total and average purchase value per customer?</a:t>
            </a:r>
            <a:endParaRPr lang="en-IN" sz="2000" b="1" dirty="0">
              <a:latin typeface="Times New Roman" panose="02020603050405020304" pitchFamily="18" charset="0"/>
              <a:cs typeface="Times New Roman" panose="02020603050405020304" pitchFamily="18" charset="0"/>
            </a:endParaRPr>
          </a:p>
        </p:txBody>
      </p:sp>
      <p:pic>
        <p:nvPicPr>
          <p:cNvPr id="6" name="Picture 5" descr="A screenshot of a computer&#10;&#10;AI-generated content may be incorrect.">
            <a:extLst>
              <a:ext uri="{FF2B5EF4-FFF2-40B4-BE49-F238E27FC236}">
                <a16:creationId xmlns:a16="http://schemas.microsoft.com/office/drawing/2014/main" id="{A7BBF15E-7F84-1F5A-9E9F-97DBDBA28313}"/>
              </a:ext>
            </a:extLst>
          </p:cNvPr>
          <p:cNvPicPr>
            <a:picLocks noChangeAspect="1"/>
          </p:cNvPicPr>
          <p:nvPr/>
        </p:nvPicPr>
        <p:blipFill>
          <a:blip r:embed="rId3"/>
          <a:stretch>
            <a:fillRect/>
          </a:stretch>
        </p:blipFill>
        <p:spPr>
          <a:xfrm>
            <a:off x="7105555" y="1217883"/>
            <a:ext cx="4284856" cy="4628332"/>
          </a:xfrm>
          <a:prstGeom prst="rect">
            <a:avLst/>
          </a:prstGeom>
          <a:ln>
            <a:solidFill>
              <a:schemeClr val="tx2">
                <a:lumMod val="50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49687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2042AD-AF89-3FD9-A1E3-CA3BDBA24EE8}"/>
              </a:ext>
            </a:extLst>
          </p:cNvPr>
          <p:cNvSpPr txBox="1"/>
          <p:nvPr/>
        </p:nvSpPr>
        <p:spPr>
          <a:xfrm>
            <a:off x="530942" y="540774"/>
            <a:ext cx="4988866" cy="400110"/>
          </a:xfrm>
          <a:prstGeom prst="rect">
            <a:avLst/>
          </a:prstGeom>
          <a:noFill/>
        </p:spPr>
        <p:txBody>
          <a:bodyPr wrap="none" rtlCol="0">
            <a:spAutoFit/>
          </a:bodyPr>
          <a:lstStyle/>
          <a:p>
            <a:r>
              <a:rPr lang="en-US" dirty="0"/>
              <a:t> </a:t>
            </a:r>
            <a:r>
              <a:rPr lang="en-US" sz="2000" b="1" dirty="0">
                <a:latin typeface="Times New Roman" panose="02020603050405020304" pitchFamily="18" charset="0"/>
                <a:cs typeface="Times New Roman" panose="02020603050405020304" pitchFamily="18" charset="0"/>
              </a:rPr>
              <a:t>How many products exist in each category?</a:t>
            </a:r>
            <a:endParaRPr lang="en-IN" sz="2000" b="1" dirty="0">
              <a:latin typeface="Times New Roman" panose="02020603050405020304" pitchFamily="18" charset="0"/>
              <a:cs typeface="Times New Roman" panose="02020603050405020304" pitchFamily="18" charset="0"/>
            </a:endParaRPr>
          </a:p>
        </p:txBody>
      </p:sp>
      <p:pic>
        <p:nvPicPr>
          <p:cNvPr id="6" name="Picture 5" descr="A screenshot of a computer&#10;&#10;AI-generated content may be incorrect.">
            <a:extLst>
              <a:ext uri="{FF2B5EF4-FFF2-40B4-BE49-F238E27FC236}">
                <a16:creationId xmlns:a16="http://schemas.microsoft.com/office/drawing/2014/main" id="{90FC2B89-CF66-4BF3-E6C7-60DFA551E130}"/>
              </a:ext>
            </a:extLst>
          </p:cNvPr>
          <p:cNvPicPr>
            <a:picLocks noChangeAspect="1"/>
          </p:cNvPicPr>
          <p:nvPr/>
        </p:nvPicPr>
        <p:blipFill>
          <a:blip r:embed="rId2"/>
          <a:stretch>
            <a:fillRect/>
          </a:stretch>
        </p:blipFill>
        <p:spPr>
          <a:xfrm>
            <a:off x="6882581" y="1166229"/>
            <a:ext cx="4296310" cy="1555960"/>
          </a:xfrm>
          <a:prstGeom prst="rect">
            <a:avLst/>
          </a:prstGeom>
          <a:ln>
            <a:solidFill>
              <a:schemeClr val="tx2">
                <a:lumMod val="50000"/>
              </a:schemeClr>
            </a:solidFill>
          </a:ln>
        </p:spPr>
      </p:pic>
      <p:pic>
        <p:nvPicPr>
          <p:cNvPr id="22" name="Picture 21" descr="A screenshot of a computer code&#10;&#10;AI-generated content may be incorrect.">
            <a:extLst>
              <a:ext uri="{FF2B5EF4-FFF2-40B4-BE49-F238E27FC236}">
                <a16:creationId xmlns:a16="http://schemas.microsoft.com/office/drawing/2014/main" id="{E3EF24E1-3ABA-738F-7DEC-FDF423CC4CFA}"/>
              </a:ext>
            </a:extLst>
          </p:cNvPr>
          <p:cNvPicPr>
            <a:picLocks noChangeAspect="1"/>
          </p:cNvPicPr>
          <p:nvPr/>
        </p:nvPicPr>
        <p:blipFill>
          <a:blip r:embed="rId3"/>
          <a:stretch>
            <a:fillRect/>
          </a:stretch>
        </p:blipFill>
        <p:spPr>
          <a:xfrm>
            <a:off x="765875" y="1075997"/>
            <a:ext cx="5195534" cy="3122377"/>
          </a:xfrm>
          <a:prstGeom prst="rect">
            <a:avLst/>
          </a:prstGeom>
        </p:spPr>
      </p:pic>
    </p:spTree>
    <p:extLst>
      <p:ext uri="{BB962C8B-B14F-4D97-AF65-F5344CB8AC3E}">
        <p14:creationId xmlns:p14="http://schemas.microsoft.com/office/powerpoint/2010/main" val="1098442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0F7FA-7602-E668-9A71-E87097C0EF8A}"/>
              </a:ext>
            </a:extLst>
          </p:cNvPr>
          <p:cNvSpPr txBox="1"/>
          <p:nvPr/>
        </p:nvSpPr>
        <p:spPr>
          <a:xfrm>
            <a:off x="776749" y="636638"/>
            <a:ext cx="7391767"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Which products have the highest total sales volume (by quantity)?</a:t>
            </a:r>
            <a:endParaRPr lang="en-IN" sz="2000" b="1" dirty="0">
              <a:latin typeface="Times New Roman" panose="02020603050405020304" pitchFamily="18" charset="0"/>
              <a:cs typeface="Times New Roman" panose="02020603050405020304" pitchFamily="18" charset="0"/>
            </a:endParaRPr>
          </a:p>
        </p:txBody>
      </p:sp>
      <p:pic>
        <p:nvPicPr>
          <p:cNvPr id="20" name="Picture 19" descr="A screenshot of a data&#10;&#10;AI-generated content may be incorrect.">
            <a:extLst>
              <a:ext uri="{FF2B5EF4-FFF2-40B4-BE49-F238E27FC236}">
                <a16:creationId xmlns:a16="http://schemas.microsoft.com/office/drawing/2014/main" id="{39C2D233-3BEE-CCF8-EC65-CC2AFD418DE9}"/>
              </a:ext>
            </a:extLst>
          </p:cNvPr>
          <p:cNvPicPr>
            <a:picLocks noChangeAspect="1"/>
          </p:cNvPicPr>
          <p:nvPr/>
        </p:nvPicPr>
        <p:blipFill>
          <a:blip r:embed="rId2"/>
          <a:stretch>
            <a:fillRect/>
          </a:stretch>
        </p:blipFill>
        <p:spPr>
          <a:xfrm>
            <a:off x="6587145" y="1286140"/>
            <a:ext cx="4926276" cy="3561163"/>
          </a:xfrm>
          <a:prstGeom prst="rect">
            <a:avLst/>
          </a:prstGeom>
          <a:ln>
            <a:solidFill>
              <a:schemeClr val="tx2">
                <a:lumMod val="50000"/>
              </a:schemeClr>
            </a:solidFill>
          </a:ln>
          <a:effectLst>
            <a:outerShdw blurRad="63500" sx="102000" sy="102000" algn="ctr" rotWithShape="0">
              <a:prstClr val="black">
                <a:alpha val="40000"/>
              </a:prstClr>
            </a:outerShdw>
          </a:effectLst>
        </p:spPr>
      </p:pic>
      <p:pic>
        <p:nvPicPr>
          <p:cNvPr id="22" name="Picture 21" descr="A screen shot of a computer code&#10;&#10;AI-generated content may be incorrect.">
            <a:extLst>
              <a:ext uri="{FF2B5EF4-FFF2-40B4-BE49-F238E27FC236}">
                <a16:creationId xmlns:a16="http://schemas.microsoft.com/office/drawing/2014/main" id="{F29F78D5-C4ED-FDEF-DDD4-CE8A5B37E5A6}"/>
              </a:ext>
            </a:extLst>
          </p:cNvPr>
          <p:cNvPicPr>
            <a:picLocks noChangeAspect="1"/>
          </p:cNvPicPr>
          <p:nvPr/>
        </p:nvPicPr>
        <p:blipFill>
          <a:blip r:embed="rId3"/>
          <a:stretch>
            <a:fillRect/>
          </a:stretch>
        </p:blipFill>
        <p:spPr>
          <a:xfrm>
            <a:off x="943896" y="1286140"/>
            <a:ext cx="5189817" cy="3561163"/>
          </a:xfrm>
          <a:prstGeom prst="rect">
            <a:avLst/>
          </a:prstGeom>
        </p:spPr>
      </p:pic>
    </p:spTree>
    <p:extLst>
      <p:ext uri="{BB962C8B-B14F-4D97-AF65-F5344CB8AC3E}">
        <p14:creationId xmlns:p14="http://schemas.microsoft.com/office/powerpoint/2010/main" val="190123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539EB6-0021-A9A8-B5A0-0B2132DF6CFC}"/>
              </a:ext>
            </a:extLst>
          </p:cNvPr>
          <p:cNvSpPr txBox="1"/>
          <p:nvPr/>
        </p:nvSpPr>
        <p:spPr>
          <a:xfrm>
            <a:off x="596736" y="511276"/>
            <a:ext cx="6085320" cy="400110"/>
          </a:xfrm>
          <a:prstGeom prst="rect">
            <a:avLst/>
          </a:prstGeom>
          <a:noFill/>
        </p:spPr>
        <p:txBody>
          <a:bodyPr wrap="none" rtlCol="0">
            <a:spAutoFit/>
          </a:bodyPr>
          <a:lstStyle/>
          <a:p>
            <a:r>
              <a:rPr lang="en-US" dirty="0"/>
              <a:t> </a:t>
            </a:r>
            <a:r>
              <a:rPr lang="en-US" sz="2000" b="1" dirty="0">
                <a:latin typeface="Times New Roman" panose="02020603050405020304" pitchFamily="18" charset="0"/>
                <a:cs typeface="Times New Roman" panose="02020603050405020304" pitchFamily="18" charset="0"/>
              </a:rPr>
              <a:t>What is the total revenue generated by each product?</a:t>
            </a:r>
            <a:endParaRPr lang="en-IN" sz="2000" b="1" dirty="0">
              <a:latin typeface="Times New Roman" panose="02020603050405020304" pitchFamily="18" charset="0"/>
              <a:cs typeface="Times New Roman" panose="02020603050405020304" pitchFamily="18" charset="0"/>
            </a:endParaRPr>
          </a:p>
        </p:txBody>
      </p:sp>
      <p:pic>
        <p:nvPicPr>
          <p:cNvPr id="13" name="Picture 12" descr="A screenshot of a table&#10;&#10;AI-generated content may be incorrect.">
            <a:extLst>
              <a:ext uri="{FF2B5EF4-FFF2-40B4-BE49-F238E27FC236}">
                <a16:creationId xmlns:a16="http://schemas.microsoft.com/office/drawing/2014/main" id="{BB22E1D0-035A-637F-5A55-61011D84E0C9}"/>
              </a:ext>
            </a:extLst>
          </p:cNvPr>
          <p:cNvPicPr>
            <a:picLocks noChangeAspect="1"/>
          </p:cNvPicPr>
          <p:nvPr/>
        </p:nvPicPr>
        <p:blipFill>
          <a:blip r:embed="rId2"/>
          <a:stretch>
            <a:fillRect/>
          </a:stretch>
        </p:blipFill>
        <p:spPr>
          <a:xfrm>
            <a:off x="7284721" y="661982"/>
            <a:ext cx="3885706" cy="5334796"/>
          </a:xfrm>
          <a:prstGeom prst="rect">
            <a:avLst/>
          </a:prstGeom>
          <a:ln>
            <a:solidFill>
              <a:schemeClr val="tx2">
                <a:lumMod val="50000"/>
              </a:schemeClr>
            </a:solidFill>
          </a:ln>
          <a:effectLst>
            <a:outerShdw blurRad="63500" sx="102000" sy="102000" algn="ctr" rotWithShape="0">
              <a:prstClr val="black">
                <a:alpha val="40000"/>
              </a:prstClr>
            </a:outerShdw>
          </a:effectLst>
        </p:spPr>
      </p:pic>
      <p:pic>
        <p:nvPicPr>
          <p:cNvPr id="3" name="Picture 2" descr="A computer code with text&#10;&#10;AI-generated content may be incorrect.">
            <a:extLst>
              <a:ext uri="{FF2B5EF4-FFF2-40B4-BE49-F238E27FC236}">
                <a16:creationId xmlns:a16="http://schemas.microsoft.com/office/drawing/2014/main" id="{EDECFF3C-BCBA-7258-F8E3-79506B21AE6D}"/>
              </a:ext>
            </a:extLst>
          </p:cNvPr>
          <p:cNvPicPr>
            <a:picLocks noChangeAspect="1"/>
          </p:cNvPicPr>
          <p:nvPr/>
        </p:nvPicPr>
        <p:blipFill>
          <a:blip r:embed="rId3"/>
          <a:stretch>
            <a:fillRect/>
          </a:stretch>
        </p:blipFill>
        <p:spPr>
          <a:xfrm>
            <a:off x="885697" y="1435808"/>
            <a:ext cx="4791794" cy="2752733"/>
          </a:xfrm>
          <a:prstGeom prst="rect">
            <a:avLst/>
          </a:prstGeom>
        </p:spPr>
      </p:pic>
    </p:spTree>
    <p:extLst>
      <p:ext uri="{BB962C8B-B14F-4D97-AF65-F5344CB8AC3E}">
        <p14:creationId xmlns:p14="http://schemas.microsoft.com/office/powerpoint/2010/main" val="1755835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119607-A2CE-B094-F312-A1634FCA7A6F}"/>
              </a:ext>
            </a:extLst>
          </p:cNvPr>
          <p:cNvSpPr txBox="1"/>
          <p:nvPr/>
        </p:nvSpPr>
        <p:spPr>
          <a:xfrm>
            <a:off x="491613" y="619432"/>
            <a:ext cx="6776214" cy="400110"/>
          </a:xfrm>
          <a:prstGeom prst="rect">
            <a:avLst/>
          </a:prstGeom>
          <a:noFill/>
        </p:spPr>
        <p:txBody>
          <a:bodyPr wrap="none" rtlCol="0">
            <a:spAutoFit/>
          </a:bodyPr>
          <a:lstStyle/>
          <a:p>
            <a:r>
              <a:rPr lang="en-US" sz="1800" b="1" dirty="0"/>
              <a:t> </a:t>
            </a:r>
            <a:r>
              <a:rPr lang="en-US" sz="2000" b="1" dirty="0">
                <a:latin typeface="Times New Roman" panose="02020603050405020304" pitchFamily="18" charset="0"/>
                <a:cs typeface="Times New Roman" panose="02020603050405020304" pitchFamily="18" charset="0"/>
              </a:rPr>
              <a:t>What are the monthly trends in order volume and revenue?</a:t>
            </a:r>
            <a:endParaRPr lang="en-IN" sz="2000" b="1" dirty="0">
              <a:latin typeface="Times New Roman" panose="02020603050405020304" pitchFamily="18" charset="0"/>
              <a:cs typeface="Times New Roman" panose="02020603050405020304" pitchFamily="18" charset="0"/>
            </a:endParaRPr>
          </a:p>
        </p:txBody>
      </p:sp>
      <p:pic>
        <p:nvPicPr>
          <p:cNvPr id="4" name="Picture 3" descr="A screenshot of a data&#10;&#10;AI-generated content may be incorrect.">
            <a:extLst>
              <a:ext uri="{FF2B5EF4-FFF2-40B4-BE49-F238E27FC236}">
                <a16:creationId xmlns:a16="http://schemas.microsoft.com/office/drawing/2014/main" id="{49016CB7-2F5B-38F7-0DA2-5F18A957FDFD}"/>
              </a:ext>
            </a:extLst>
          </p:cNvPr>
          <p:cNvPicPr>
            <a:picLocks noChangeAspect="1"/>
          </p:cNvPicPr>
          <p:nvPr/>
        </p:nvPicPr>
        <p:blipFill>
          <a:blip r:embed="rId2"/>
          <a:stretch>
            <a:fillRect/>
          </a:stretch>
        </p:blipFill>
        <p:spPr>
          <a:xfrm>
            <a:off x="7020232" y="1351280"/>
            <a:ext cx="4172630" cy="3686689"/>
          </a:xfrm>
          <a:prstGeom prst="rect">
            <a:avLst/>
          </a:prstGeom>
          <a:ln>
            <a:solidFill>
              <a:schemeClr val="tx2">
                <a:lumMod val="50000"/>
              </a:schemeClr>
            </a:solidFill>
          </a:ln>
        </p:spPr>
      </p:pic>
      <p:pic>
        <p:nvPicPr>
          <p:cNvPr id="6" name="Picture 5" descr="A screenshot of a computer code&#10;&#10;AI-generated content may be incorrect.">
            <a:extLst>
              <a:ext uri="{FF2B5EF4-FFF2-40B4-BE49-F238E27FC236}">
                <a16:creationId xmlns:a16="http://schemas.microsoft.com/office/drawing/2014/main" id="{EC8CDB54-0F78-995B-FD98-A3065D9DC9D3}"/>
              </a:ext>
            </a:extLst>
          </p:cNvPr>
          <p:cNvPicPr>
            <a:picLocks noChangeAspect="1"/>
          </p:cNvPicPr>
          <p:nvPr/>
        </p:nvPicPr>
        <p:blipFill>
          <a:blip r:embed="rId3"/>
          <a:srcRect t="29654"/>
          <a:stretch>
            <a:fillRect/>
          </a:stretch>
        </p:blipFill>
        <p:spPr>
          <a:xfrm>
            <a:off x="491613" y="1351280"/>
            <a:ext cx="6095977" cy="3332480"/>
          </a:xfrm>
          <a:prstGeom prst="rect">
            <a:avLst/>
          </a:prstGeom>
        </p:spPr>
      </p:pic>
    </p:spTree>
    <p:extLst>
      <p:ext uri="{BB962C8B-B14F-4D97-AF65-F5344CB8AC3E}">
        <p14:creationId xmlns:p14="http://schemas.microsoft.com/office/powerpoint/2010/main" val="2476430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0AF1A2-1FDB-BC17-E22B-440CFE661F8B}"/>
              </a:ext>
            </a:extLst>
          </p:cNvPr>
          <p:cNvSpPr txBox="1"/>
          <p:nvPr/>
        </p:nvSpPr>
        <p:spPr>
          <a:xfrm>
            <a:off x="668593" y="658762"/>
            <a:ext cx="5145961"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On which dates were the most orders placed?</a:t>
            </a:r>
            <a:endParaRPr lang="en-IN" sz="2000" b="1" dirty="0">
              <a:latin typeface="Times New Roman" panose="02020603050405020304" pitchFamily="18" charset="0"/>
              <a:cs typeface="Times New Roman" panose="02020603050405020304" pitchFamily="18" charset="0"/>
            </a:endParaRPr>
          </a:p>
        </p:txBody>
      </p:sp>
      <p:pic>
        <p:nvPicPr>
          <p:cNvPr id="4" name="Picture 3" descr="A computer code with text&#10;&#10;AI-generated content may be incorrect.">
            <a:extLst>
              <a:ext uri="{FF2B5EF4-FFF2-40B4-BE49-F238E27FC236}">
                <a16:creationId xmlns:a16="http://schemas.microsoft.com/office/drawing/2014/main" id="{CABA358F-AA55-1383-6E94-48A7315E9634}"/>
              </a:ext>
            </a:extLst>
          </p:cNvPr>
          <p:cNvPicPr>
            <a:picLocks noChangeAspect="1"/>
          </p:cNvPicPr>
          <p:nvPr/>
        </p:nvPicPr>
        <p:blipFill>
          <a:blip r:embed="rId2"/>
          <a:stretch>
            <a:fillRect/>
          </a:stretch>
        </p:blipFill>
        <p:spPr>
          <a:xfrm>
            <a:off x="741108" y="1381451"/>
            <a:ext cx="4848381" cy="271860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C73EE003-36D6-6EF8-0346-B75D97FB5F68}"/>
              </a:ext>
            </a:extLst>
          </p:cNvPr>
          <p:cNvPicPr>
            <a:picLocks noChangeAspect="1"/>
          </p:cNvPicPr>
          <p:nvPr/>
        </p:nvPicPr>
        <p:blipFill>
          <a:blip r:embed="rId3"/>
          <a:stretch>
            <a:fillRect/>
          </a:stretch>
        </p:blipFill>
        <p:spPr>
          <a:xfrm>
            <a:off x="6892413" y="1381451"/>
            <a:ext cx="3201297" cy="2086371"/>
          </a:xfrm>
          <a:prstGeom prst="rect">
            <a:avLst/>
          </a:prstGeom>
          <a:ln>
            <a:solidFill>
              <a:schemeClr val="tx2">
                <a:lumMod val="50000"/>
              </a:schemeClr>
            </a:solidFill>
          </a:ln>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08195F7C-D779-B4ED-691E-BAE2BB64F5D3}"/>
              </a:ext>
            </a:extLst>
          </p:cNvPr>
          <p:cNvSpPr txBox="1"/>
          <p:nvPr/>
        </p:nvSpPr>
        <p:spPr>
          <a:xfrm>
            <a:off x="668594" y="4022522"/>
            <a:ext cx="5535562"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How many orders have been placed in total?</a:t>
            </a:r>
            <a:endParaRPr lang="en-IN" sz="2000" b="1" dirty="0">
              <a:latin typeface="Times New Roman" panose="02020603050405020304" pitchFamily="18" charset="0"/>
              <a:cs typeface="Times New Roman" panose="02020603050405020304" pitchFamily="18" charset="0"/>
            </a:endParaRPr>
          </a:p>
        </p:txBody>
      </p:sp>
      <p:pic>
        <p:nvPicPr>
          <p:cNvPr id="10" name="Picture 9" descr="A close-up of a computer code&#10;&#10;AI-generated content may be incorrect.">
            <a:extLst>
              <a:ext uri="{FF2B5EF4-FFF2-40B4-BE49-F238E27FC236}">
                <a16:creationId xmlns:a16="http://schemas.microsoft.com/office/drawing/2014/main" id="{6AE257B0-F08A-AA6A-6B56-B26C48EEDDC3}"/>
              </a:ext>
            </a:extLst>
          </p:cNvPr>
          <p:cNvPicPr>
            <a:picLocks noChangeAspect="1"/>
          </p:cNvPicPr>
          <p:nvPr/>
        </p:nvPicPr>
        <p:blipFill>
          <a:blip r:embed="rId4"/>
          <a:stretch>
            <a:fillRect/>
          </a:stretch>
        </p:blipFill>
        <p:spPr>
          <a:xfrm>
            <a:off x="849801" y="4627594"/>
            <a:ext cx="4282638" cy="1320584"/>
          </a:xfrm>
          <a:prstGeom prst="rect">
            <a:avLst/>
          </a:prstGeom>
        </p:spPr>
      </p:pic>
      <p:pic>
        <p:nvPicPr>
          <p:cNvPr id="11" name="Picture 10" descr="A close up of a text&#10;&#10;AI-generated content may be incorrect.">
            <a:extLst>
              <a:ext uri="{FF2B5EF4-FFF2-40B4-BE49-F238E27FC236}">
                <a16:creationId xmlns:a16="http://schemas.microsoft.com/office/drawing/2014/main" id="{855293B9-01F4-F5D8-6168-347E60531EAD}"/>
              </a:ext>
            </a:extLst>
          </p:cNvPr>
          <p:cNvPicPr>
            <a:picLocks noChangeAspect="1"/>
          </p:cNvPicPr>
          <p:nvPr/>
        </p:nvPicPr>
        <p:blipFill>
          <a:blip r:embed="rId5"/>
          <a:stretch>
            <a:fillRect/>
          </a:stretch>
        </p:blipFill>
        <p:spPr>
          <a:xfrm>
            <a:off x="6892413" y="4627594"/>
            <a:ext cx="2751240" cy="848955"/>
          </a:xfrm>
          <a:prstGeom prst="rect">
            <a:avLst/>
          </a:prstGeom>
          <a:ln>
            <a:solidFill>
              <a:schemeClr val="tx2">
                <a:lumMod val="50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429585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C96DC6-2743-DDB8-802C-E590DAB693A7}"/>
              </a:ext>
            </a:extLst>
          </p:cNvPr>
          <p:cNvSpPr txBox="1"/>
          <p:nvPr/>
        </p:nvSpPr>
        <p:spPr>
          <a:xfrm>
            <a:off x="616126" y="653722"/>
            <a:ext cx="5330305"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How many suppliers are there in the database?</a:t>
            </a:r>
            <a:endParaRPr lang="en-IN" sz="2000" b="1" dirty="0">
              <a:latin typeface="Times New Roman" panose="02020603050405020304" pitchFamily="18" charset="0"/>
              <a:cs typeface="Times New Roman" panose="02020603050405020304" pitchFamily="18" charset="0"/>
            </a:endParaRPr>
          </a:p>
        </p:txBody>
      </p:sp>
      <p:pic>
        <p:nvPicPr>
          <p:cNvPr id="10" name="Picture 9" descr="A close up of a text&#10;&#10;AI-generated content may be incorrect.">
            <a:extLst>
              <a:ext uri="{FF2B5EF4-FFF2-40B4-BE49-F238E27FC236}">
                <a16:creationId xmlns:a16="http://schemas.microsoft.com/office/drawing/2014/main" id="{33EB118D-87A5-98CD-9D62-29D1A2A51CFD}"/>
              </a:ext>
            </a:extLst>
          </p:cNvPr>
          <p:cNvPicPr>
            <a:picLocks noChangeAspect="1"/>
          </p:cNvPicPr>
          <p:nvPr/>
        </p:nvPicPr>
        <p:blipFill>
          <a:blip r:embed="rId2"/>
          <a:stretch>
            <a:fillRect/>
          </a:stretch>
        </p:blipFill>
        <p:spPr>
          <a:xfrm>
            <a:off x="737419" y="1281743"/>
            <a:ext cx="4078695" cy="1214178"/>
          </a:xfrm>
          <a:prstGeom prst="rect">
            <a:avLst/>
          </a:prstGeom>
        </p:spPr>
      </p:pic>
      <p:pic>
        <p:nvPicPr>
          <p:cNvPr id="12" name="Picture 11" descr="A close up of a sign&#10;&#10;AI-generated content may be incorrect.">
            <a:extLst>
              <a:ext uri="{FF2B5EF4-FFF2-40B4-BE49-F238E27FC236}">
                <a16:creationId xmlns:a16="http://schemas.microsoft.com/office/drawing/2014/main" id="{AD241278-F77A-587D-01E9-0A1B9CF4217D}"/>
              </a:ext>
            </a:extLst>
          </p:cNvPr>
          <p:cNvPicPr>
            <a:picLocks noChangeAspect="1"/>
          </p:cNvPicPr>
          <p:nvPr/>
        </p:nvPicPr>
        <p:blipFill>
          <a:blip r:embed="rId3"/>
          <a:stretch>
            <a:fillRect/>
          </a:stretch>
        </p:blipFill>
        <p:spPr>
          <a:xfrm>
            <a:off x="6741916" y="1016034"/>
            <a:ext cx="1812125" cy="655450"/>
          </a:xfrm>
          <a:prstGeom prst="rect">
            <a:avLst/>
          </a:prstGeom>
          <a:ln>
            <a:solidFill>
              <a:schemeClr val="tx2">
                <a:lumMod val="50000"/>
              </a:schemeClr>
            </a:solidFill>
          </a:ln>
          <a:effectLst>
            <a:outerShdw blurRad="63500" sx="102000" sy="102000" algn="ctr" rotWithShape="0">
              <a:prstClr val="black">
                <a:alpha val="40000"/>
              </a:prstClr>
            </a:outerShdw>
          </a:effectLst>
        </p:spPr>
      </p:pic>
      <p:sp>
        <p:nvSpPr>
          <p:cNvPr id="13" name="TextBox 12">
            <a:extLst>
              <a:ext uri="{FF2B5EF4-FFF2-40B4-BE49-F238E27FC236}">
                <a16:creationId xmlns:a16="http://schemas.microsoft.com/office/drawing/2014/main" id="{2C68DB60-03B4-866B-9B17-901CBA81C04C}"/>
              </a:ext>
            </a:extLst>
          </p:cNvPr>
          <p:cNvSpPr txBox="1"/>
          <p:nvPr/>
        </p:nvSpPr>
        <p:spPr>
          <a:xfrm>
            <a:off x="511277" y="3177440"/>
            <a:ext cx="5080237" cy="400110"/>
          </a:xfrm>
          <a:prstGeom prst="rect">
            <a:avLst/>
          </a:prstGeom>
          <a:noFill/>
        </p:spPr>
        <p:txBody>
          <a:bodyPr wrap="none" rtlCol="0">
            <a:spAutoFit/>
          </a:bodyPr>
          <a:lstStyle/>
          <a:p>
            <a:r>
              <a:rPr lang="en-US" dirty="0"/>
              <a:t> </a:t>
            </a:r>
            <a:r>
              <a:rPr lang="en-US" sz="2000" b="1" dirty="0">
                <a:latin typeface="Times New Roman" panose="02020603050405020304" pitchFamily="18" charset="0"/>
                <a:cs typeface="Times New Roman" panose="02020603050405020304" pitchFamily="18" charset="0"/>
              </a:rPr>
              <a:t>Which supplier provides the most products?</a:t>
            </a:r>
            <a:endParaRPr lang="en-IN" sz="2000" b="1" dirty="0">
              <a:latin typeface="Times New Roman" panose="02020603050405020304" pitchFamily="18" charset="0"/>
              <a:cs typeface="Times New Roman" panose="02020603050405020304" pitchFamily="18" charset="0"/>
            </a:endParaRPr>
          </a:p>
        </p:txBody>
      </p:sp>
      <p:pic>
        <p:nvPicPr>
          <p:cNvPr id="15" name="Picture 14" descr="A screen shot of a computer code&#10;&#10;AI-generated content may be incorrect.">
            <a:extLst>
              <a:ext uri="{FF2B5EF4-FFF2-40B4-BE49-F238E27FC236}">
                <a16:creationId xmlns:a16="http://schemas.microsoft.com/office/drawing/2014/main" id="{88E86F9A-2AB5-C65B-7DD8-0EFF6E46BC00}"/>
              </a:ext>
            </a:extLst>
          </p:cNvPr>
          <p:cNvPicPr>
            <a:picLocks noChangeAspect="1"/>
          </p:cNvPicPr>
          <p:nvPr/>
        </p:nvPicPr>
        <p:blipFill>
          <a:blip r:embed="rId4"/>
          <a:stretch>
            <a:fillRect/>
          </a:stretch>
        </p:blipFill>
        <p:spPr>
          <a:xfrm>
            <a:off x="737419" y="3670729"/>
            <a:ext cx="4078695" cy="2249900"/>
          </a:xfrm>
          <a:prstGeom prst="rect">
            <a:avLst/>
          </a:prstGeom>
        </p:spPr>
      </p:pic>
      <p:pic>
        <p:nvPicPr>
          <p:cNvPr id="17" name="Picture 16">
            <a:extLst>
              <a:ext uri="{FF2B5EF4-FFF2-40B4-BE49-F238E27FC236}">
                <a16:creationId xmlns:a16="http://schemas.microsoft.com/office/drawing/2014/main" id="{547509A1-AF6F-650F-A884-7FE212F97B81}"/>
              </a:ext>
            </a:extLst>
          </p:cNvPr>
          <p:cNvPicPr>
            <a:picLocks noChangeAspect="1"/>
          </p:cNvPicPr>
          <p:nvPr/>
        </p:nvPicPr>
        <p:blipFill>
          <a:blip r:embed="rId5"/>
          <a:stretch>
            <a:fillRect/>
          </a:stretch>
        </p:blipFill>
        <p:spPr>
          <a:xfrm>
            <a:off x="6741916" y="3861618"/>
            <a:ext cx="2407800" cy="572729"/>
          </a:xfrm>
          <a:prstGeom prst="rect">
            <a:avLst/>
          </a:prstGeom>
          <a:ln>
            <a:solidFill>
              <a:schemeClr val="tx2">
                <a:lumMod val="50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18370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A00C13-757D-9321-C00E-85FEEAD10A0A}"/>
              </a:ext>
            </a:extLst>
          </p:cNvPr>
          <p:cNvSpPr txBox="1"/>
          <p:nvPr/>
        </p:nvSpPr>
        <p:spPr>
          <a:xfrm>
            <a:off x="550606" y="589935"/>
            <a:ext cx="814517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 Which supplier contribute the most to total product sales (by revenue)?</a:t>
            </a:r>
            <a:endParaRPr lang="en-IN" sz="2000" b="1" dirty="0">
              <a:latin typeface="Times New Roman" panose="02020603050405020304" pitchFamily="18" charset="0"/>
              <a:cs typeface="Times New Roman" panose="02020603050405020304" pitchFamily="18" charset="0"/>
            </a:endParaRPr>
          </a:p>
        </p:txBody>
      </p:sp>
      <p:pic>
        <p:nvPicPr>
          <p:cNvPr id="5" name="Picture 4" descr="A screen shot of a computer code&#10;&#10;AI-generated content may be incorrect.">
            <a:extLst>
              <a:ext uri="{FF2B5EF4-FFF2-40B4-BE49-F238E27FC236}">
                <a16:creationId xmlns:a16="http://schemas.microsoft.com/office/drawing/2014/main" id="{D6E7A210-A4A0-7556-B9FC-3ED7501CE0CF}"/>
              </a:ext>
            </a:extLst>
          </p:cNvPr>
          <p:cNvPicPr>
            <a:picLocks noChangeAspect="1"/>
          </p:cNvPicPr>
          <p:nvPr/>
        </p:nvPicPr>
        <p:blipFill>
          <a:blip r:embed="rId2"/>
          <a:stretch>
            <a:fillRect/>
          </a:stretch>
        </p:blipFill>
        <p:spPr>
          <a:xfrm>
            <a:off x="785752" y="1078408"/>
            <a:ext cx="5143100" cy="3910167"/>
          </a:xfrm>
          <a:prstGeom prst="rect">
            <a:avLst/>
          </a:prstGeom>
        </p:spPr>
      </p:pic>
      <p:pic>
        <p:nvPicPr>
          <p:cNvPr id="7" name="Picture 6" descr="A close up of a name&#10;&#10;AI-generated content may be incorrect.">
            <a:extLst>
              <a:ext uri="{FF2B5EF4-FFF2-40B4-BE49-F238E27FC236}">
                <a16:creationId xmlns:a16="http://schemas.microsoft.com/office/drawing/2014/main" id="{E7528758-5058-DAAD-498B-595FDE53149C}"/>
              </a:ext>
            </a:extLst>
          </p:cNvPr>
          <p:cNvPicPr>
            <a:picLocks noChangeAspect="1"/>
          </p:cNvPicPr>
          <p:nvPr/>
        </p:nvPicPr>
        <p:blipFill>
          <a:blip r:embed="rId3"/>
          <a:stretch>
            <a:fillRect/>
          </a:stretch>
        </p:blipFill>
        <p:spPr>
          <a:xfrm>
            <a:off x="7312375" y="1251908"/>
            <a:ext cx="3930780" cy="744040"/>
          </a:xfrm>
          <a:prstGeom prst="rect">
            <a:avLst/>
          </a:prstGeom>
          <a:ln>
            <a:solidFill>
              <a:schemeClr val="tx2">
                <a:lumMod val="50000"/>
              </a:schemeClr>
            </a:solidFill>
          </a:ln>
        </p:spPr>
      </p:pic>
    </p:spTree>
    <p:extLst>
      <p:ext uri="{BB962C8B-B14F-4D97-AF65-F5344CB8AC3E}">
        <p14:creationId xmlns:p14="http://schemas.microsoft.com/office/powerpoint/2010/main" val="955512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80D8AF-3F06-490D-F0DC-122D24255AF9}"/>
              </a:ext>
            </a:extLst>
          </p:cNvPr>
          <p:cNvSpPr txBox="1"/>
          <p:nvPr/>
        </p:nvSpPr>
        <p:spPr>
          <a:xfrm>
            <a:off x="573334" y="2639302"/>
            <a:ext cx="5522666"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Which employees have handled the most orders?</a:t>
            </a:r>
            <a:endParaRPr lang="en-IN" sz="2000" b="1" dirty="0">
              <a:latin typeface="Times New Roman" panose="02020603050405020304" pitchFamily="18" charset="0"/>
              <a:cs typeface="Times New Roman" panose="02020603050405020304" pitchFamily="18" charset="0"/>
            </a:endParaRPr>
          </a:p>
        </p:txBody>
      </p:sp>
      <p:pic>
        <p:nvPicPr>
          <p:cNvPr id="7" name="Picture 6" descr="A screenshot of a computer code&#10;&#10;AI-generated content may be incorrect.">
            <a:extLst>
              <a:ext uri="{FF2B5EF4-FFF2-40B4-BE49-F238E27FC236}">
                <a16:creationId xmlns:a16="http://schemas.microsoft.com/office/drawing/2014/main" id="{C4A0D3FE-56FF-0B7B-714C-51925556EE6D}"/>
              </a:ext>
            </a:extLst>
          </p:cNvPr>
          <p:cNvPicPr>
            <a:picLocks noChangeAspect="1"/>
          </p:cNvPicPr>
          <p:nvPr/>
        </p:nvPicPr>
        <p:blipFill>
          <a:blip r:embed="rId2"/>
          <a:stretch>
            <a:fillRect/>
          </a:stretch>
        </p:blipFill>
        <p:spPr>
          <a:xfrm>
            <a:off x="727749" y="3114321"/>
            <a:ext cx="3883580" cy="321360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E348B52C-706A-6BF8-940E-1AFAC475C6D8}"/>
              </a:ext>
            </a:extLst>
          </p:cNvPr>
          <p:cNvPicPr>
            <a:picLocks noChangeAspect="1"/>
          </p:cNvPicPr>
          <p:nvPr/>
        </p:nvPicPr>
        <p:blipFill>
          <a:blip r:embed="rId3"/>
          <a:stretch>
            <a:fillRect/>
          </a:stretch>
        </p:blipFill>
        <p:spPr>
          <a:xfrm>
            <a:off x="6801262" y="3114322"/>
            <a:ext cx="3805142" cy="1652232"/>
          </a:xfrm>
          <a:prstGeom prst="rect">
            <a:avLst/>
          </a:prstGeom>
          <a:ln>
            <a:solidFill>
              <a:schemeClr val="tx2">
                <a:lumMod val="50000"/>
              </a:schemeClr>
            </a:solidFill>
          </a:ln>
          <a:effectLst>
            <a:outerShdw blurRad="63500" sx="102000" sy="102000" algn="ctr" rotWithShape="0">
              <a:prstClr val="black">
                <a:alpha val="40000"/>
              </a:prstClr>
            </a:outerShdw>
          </a:effectLst>
        </p:spPr>
      </p:pic>
      <p:pic>
        <p:nvPicPr>
          <p:cNvPr id="2" name="Picture 1" descr="A close-up of a computer code&#10;&#10;AI-generated content may be incorrect.">
            <a:extLst>
              <a:ext uri="{FF2B5EF4-FFF2-40B4-BE49-F238E27FC236}">
                <a16:creationId xmlns:a16="http://schemas.microsoft.com/office/drawing/2014/main" id="{12976E26-9ABE-C6CF-2299-C44C79575A6A}"/>
              </a:ext>
            </a:extLst>
          </p:cNvPr>
          <p:cNvPicPr>
            <a:picLocks noChangeAspect="1"/>
          </p:cNvPicPr>
          <p:nvPr/>
        </p:nvPicPr>
        <p:blipFill>
          <a:blip r:embed="rId4"/>
          <a:stretch>
            <a:fillRect/>
          </a:stretch>
        </p:blipFill>
        <p:spPr>
          <a:xfrm>
            <a:off x="727748" y="940003"/>
            <a:ext cx="5164328" cy="1232925"/>
          </a:xfrm>
          <a:prstGeom prst="rect">
            <a:avLst/>
          </a:prstGeom>
        </p:spPr>
      </p:pic>
      <p:pic>
        <p:nvPicPr>
          <p:cNvPr id="3" name="Picture 2">
            <a:extLst>
              <a:ext uri="{FF2B5EF4-FFF2-40B4-BE49-F238E27FC236}">
                <a16:creationId xmlns:a16="http://schemas.microsoft.com/office/drawing/2014/main" id="{049C05F8-EF80-8BE8-333F-1040E779AE79}"/>
              </a:ext>
            </a:extLst>
          </p:cNvPr>
          <p:cNvPicPr>
            <a:picLocks noChangeAspect="1"/>
          </p:cNvPicPr>
          <p:nvPr/>
        </p:nvPicPr>
        <p:blipFill>
          <a:blip r:embed="rId5"/>
          <a:stretch>
            <a:fillRect/>
          </a:stretch>
        </p:blipFill>
        <p:spPr>
          <a:xfrm>
            <a:off x="6801262" y="940004"/>
            <a:ext cx="1767003" cy="558001"/>
          </a:xfrm>
          <a:prstGeom prst="rect">
            <a:avLst/>
          </a:prstGeom>
          <a:ln>
            <a:solidFill>
              <a:schemeClr val="tx2">
                <a:lumMod val="50000"/>
              </a:schemeClr>
            </a:solidFill>
          </a:ln>
          <a:effectLst>
            <a:outerShdw blurRad="63500" sx="102000" sy="102000" algn="ctr" rotWithShape="0">
              <a:prstClr val="black">
                <a:alpha val="40000"/>
              </a:prstClr>
            </a:outerShdw>
          </a:effectLst>
        </p:spPr>
      </p:pic>
      <p:sp>
        <p:nvSpPr>
          <p:cNvPr id="4" name="TextBox 3">
            <a:extLst>
              <a:ext uri="{FF2B5EF4-FFF2-40B4-BE49-F238E27FC236}">
                <a16:creationId xmlns:a16="http://schemas.microsoft.com/office/drawing/2014/main" id="{9A291CFD-7407-301B-96C7-E738C5E95DF8}"/>
              </a:ext>
            </a:extLst>
          </p:cNvPr>
          <p:cNvSpPr txBox="1"/>
          <p:nvPr/>
        </p:nvSpPr>
        <p:spPr>
          <a:xfrm>
            <a:off x="573334" y="464984"/>
            <a:ext cx="5174815"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How many employees have processed orders?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3130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code with blue text&#10;&#10;AI-generated content may be incorrect.">
            <a:extLst>
              <a:ext uri="{FF2B5EF4-FFF2-40B4-BE49-F238E27FC236}">
                <a16:creationId xmlns:a16="http://schemas.microsoft.com/office/drawing/2014/main" id="{50A3B412-4D92-9559-48EF-A710D575B23A}"/>
              </a:ext>
            </a:extLst>
          </p:cNvPr>
          <p:cNvPicPr>
            <a:picLocks noChangeAspect="1"/>
          </p:cNvPicPr>
          <p:nvPr/>
        </p:nvPicPr>
        <p:blipFill>
          <a:blip r:embed="rId2"/>
          <a:stretch>
            <a:fillRect/>
          </a:stretch>
        </p:blipFill>
        <p:spPr>
          <a:xfrm>
            <a:off x="717751" y="1238747"/>
            <a:ext cx="5093114" cy="3379871"/>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A160052E-0421-B32D-0F19-A0D0BAA060C7}"/>
              </a:ext>
            </a:extLst>
          </p:cNvPr>
          <p:cNvPicPr>
            <a:picLocks noChangeAspect="1"/>
          </p:cNvPicPr>
          <p:nvPr/>
        </p:nvPicPr>
        <p:blipFill>
          <a:blip r:embed="rId3"/>
          <a:stretch>
            <a:fillRect/>
          </a:stretch>
        </p:blipFill>
        <p:spPr>
          <a:xfrm>
            <a:off x="6732871" y="1238747"/>
            <a:ext cx="4033456" cy="2655358"/>
          </a:xfrm>
          <a:prstGeom prst="rect">
            <a:avLst/>
          </a:prstGeom>
          <a:ln>
            <a:solidFill>
              <a:schemeClr val="tx2">
                <a:lumMod val="50000"/>
              </a:schemeClr>
            </a:solidFill>
          </a:ln>
          <a:effectLst>
            <a:outerShdw blurRad="63500" sx="102000" sy="102000" algn="ctr" rotWithShape="0">
              <a:prstClr val="black">
                <a:alpha val="40000"/>
              </a:prstClr>
            </a:outerShdw>
          </a:effectLst>
        </p:spPr>
      </p:pic>
      <p:sp>
        <p:nvSpPr>
          <p:cNvPr id="4" name="TextBox 3">
            <a:extLst>
              <a:ext uri="{FF2B5EF4-FFF2-40B4-BE49-F238E27FC236}">
                <a16:creationId xmlns:a16="http://schemas.microsoft.com/office/drawing/2014/main" id="{13DD430D-EE66-9F4E-D592-A427C476E5F2}"/>
              </a:ext>
            </a:extLst>
          </p:cNvPr>
          <p:cNvSpPr txBox="1"/>
          <p:nvPr/>
        </p:nvSpPr>
        <p:spPr>
          <a:xfrm>
            <a:off x="609596" y="494976"/>
            <a:ext cx="6277681"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What is the average order value handled per employee?</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5019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860958-3D40-9EB5-D313-120D090547C1}"/>
              </a:ext>
            </a:extLst>
          </p:cNvPr>
          <p:cNvSpPr txBox="1"/>
          <p:nvPr/>
        </p:nvSpPr>
        <p:spPr>
          <a:xfrm>
            <a:off x="521109" y="491613"/>
            <a:ext cx="5772734"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What is the average quantity ordered per product?</a:t>
            </a:r>
            <a:endParaRPr lang="en-IN" sz="2000" b="1" dirty="0">
              <a:latin typeface="Times New Roman" panose="02020603050405020304" pitchFamily="18" charset="0"/>
              <a:cs typeface="Times New Roman" panose="02020603050405020304" pitchFamily="18" charset="0"/>
            </a:endParaRPr>
          </a:p>
        </p:txBody>
      </p:sp>
      <p:pic>
        <p:nvPicPr>
          <p:cNvPr id="4" name="Picture 3" descr="A computer code with black text&#10;&#10;AI-generated content may be incorrect.">
            <a:extLst>
              <a:ext uri="{FF2B5EF4-FFF2-40B4-BE49-F238E27FC236}">
                <a16:creationId xmlns:a16="http://schemas.microsoft.com/office/drawing/2014/main" id="{1B89DF6A-375E-586B-96EB-B165A646393A}"/>
              </a:ext>
            </a:extLst>
          </p:cNvPr>
          <p:cNvPicPr>
            <a:picLocks noChangeAspect="1"/>
          </p:cNvPicPr>
          <p:nvPr/>
        </p:nvPicPr>
        <p:blipFill>
          <a:blip r:embed="rId2"/>
          <a:stretch>
            <a:fillRect/>
          </a:stretch>
        </p:blipFill>
        <p:spPr>
          <a:xfrm>
            <a:off x="674822" y="1091375"/>
            <a:ext cx="5229631" cy="2890690"/>
          </a:xfrm>
          <a:prstGeom prst="rect">
            <a:avLst/>
          </a:prstGeom>
        </p:spPr>
      </p:pic>
      <p:pic>
        <p:nvPicPr>
          <p:cNvPr id="6" name="Picture 5" descr="A screenshot of a table&#10;&#10;AI-generated content may be incorrect.">
            <a:extLst>
              <a:ext uri="{FF2B5EF4-FFF2-40B4-BE49-F238E27FC236}">
                <a16:creationId xmlns:a16="http://schemas.microsoft.com/office/drawing/2014/main" id="{CD6EE4F0-F0E1-F400-B654-964F5440801F}"/>
              </a:ext>
            </a:extLst>
          </p:cNvPr>
          <p:cNvPicPr>
            <a:picLocks noChangeAspect="1"/>
          </p:cNvPicPr>
          <p:nvPr/>
        </p:nvPicPr>
        <p:blipFill>
          <a:blip r:embed="rId3"/>
          <a:stretch>
            <a:fillRect/>
          </a:stretch>
        </p:blipFill>
        <p:spPr>
          <a:xfrm>
            <a:off x="6518788" y="1197192"/>
            <a:ext cx="3647767" cy="4463616"/>
          </a:xfrm>
          <a:prstGeom prst="rect">
            <a:avLst/>
          </a:prstGeom>
          <a:ln>
            <a:solidFill>
              <a:schemeClr val="tx2">
                <a:lumMod val="50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59576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F44846-8620-6FEC-2DE9-B33B80070997}"/>
              </a:ext>
            </a:extLst>
          </p:cNvPr>
          <p:cNvSpPr txBox="1"/>
          <p:nvPr/>
        </p:nvSpPr>
        <p:spPr>
          <a:xfrm>
            <a:off x="884904" y="1317521"/>
            <a:ext cx="10235380" cy="3631763"/>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Product Performance:</a:t>
            </a:r>
            <a:r>
              <a:rPr lang="en-US" sz="2000" dirty="0">
                <a:latin typeface="Times New Roman" panose="02020603050405020304" pitchFamily="18" charset="0"/>
                <a:cs typeface="Times New Roman" panose="02020603050405020304" pitchFamily="18" charset="0"/>
              </a:rPr>
              <a:t> A few products generate most revenue, while some items sell very little due to low demand or visibility.</a:t>
            </a:r>
          </a:p>
          <a:p>
            <a:pPr>
              <a:lnSpc>
                <a:spcPct val="150000"/>
              </a:lnSpc>
            </a:pPr>
            <a:r>
              <a:rPr lang="en-US" sz="2000" b="1" dirty="0">
                <a:latin typeface="Times New Roman" panose="02020603050405020304" pitchFamily="18" charset="0"/>
                <a:cs typeface="Times New Roman" panose="02020603050405020304" pitchFamily="18" charset="0"/>
              </a:rPr>
              <a:t>Customer Behavior:</a:t>
            </a:r>
            <a:r>
              <a:rPr lang="en-US" sz="2000" dirty="0">
                <a:latin typeface="Times New Roman" panose="02020603050405020304" pitchFamily="18" charset="0"/>
                <a:cs typeface="Times New Roman" panose="02020603050405020304" pitchFamily="18" charset="0"/>
              </a:rPr>
              <a:t> Repeat customers drive major sales, and weekend shopping is consistently higher.</a:t>
            </a:r>
          </a:p>
          <a:p>
            <a:pPr>
              <a:lnSpc>
                <a:spcPct val="150000"/>
              </a:lnSpc>
            </a:pPr>
            <a:r>
              <a:rPr lang="en-US" sz="2000" b="1" dirty="0">
                <a:latin typeface="Times New Roman" panose="02020603050405020304" pitchFamily="18" charset="0"/>
                <a:cs typeface="Times New Roman" panose="02020603050405020304" pitchFamily="18" charset="0"/>
              </a:rPr>
              <a:t>Sales Trends:</a:t>
            </a:r>
            <a:r>
              <a:rPr lang="en-US" sz="2000" dirty="0">
                <a:latin typeface="Times New Roman" panose="02020603050405020304" pitchFamily="18" charset="0"/>
                <a:cs typeface="Times New Roman" panose="02020603050405020304" pitchFamily="18" charset="0"/>
              </a:rPr>
              <a:t> Orders rise during weekends ; average order value is gradually increasing.</a:t>
            </a:r>
          </a:p>
          <a:p>
            <a:pPr>
              <a:lnSpc>
                <a:spcPct val="150000"/>
              </a:lnSpc>
            </a:pPr>
            <a:r>
              <a:rPr lang="en-US" sz="2000" b="1" dirty="0">
                <a:latin typeface="Times New Roman" panose="02020603050405020304" pitchFamily="18" charset="0"/>
                <a:cs typeface="Times New Roman" panose="02020603050405020304" pitchFamily="18" charset="0"/>
              </a:rPr>
              <a:t>Pricing &amp; Profitability:</a:t>
            </a:r>
            <a:r>
              <a:rPr lang="en-US" sz="2000" dirty="0">
                <a:latin typeface="Times New Roman" panose="02020603050405020304" pitchFamily="18" charset="0"/>
                <a:cs typeface="Times New Roman" panose="02020603050405020304" pitchFamily="18" charset="0"/>
              </a:rPr>
              <a:t> Some items are profitable but low-volume; discounts boost sales but may lower margins.</a:t>
            </a:r>
          </a:p>
          <a:p>
            <a:endParaRPr lang="en-IN" sz="2000" dirty="0"/>
          </a:p>
        </p:txBody>
      </p:sp>
      <p:sp>
        <p:nvSpPr>
          <p:cNvPr id="5" name="TextBox 4">
            <a:extLst>
              <a:ext uri="{FF2B5EF4-FFF2-40B4-BE49-F238E27FC236}">
                <a16:creationId xmlns:a16="http://schemas.microsoft.com/office/drawing/2014/main" id="{F3DAE101-66DE-B1F4-3597-D0BC40B8423D}"/>
              </a:ext>
            </a:extLst>
          </p:cNvPr>
          <p:cNvSpPr txBox="1"/>
          <p:nvPr/>
        </p:nvSpPr>
        <p:spPr>
          <a:xfrm>
            <a:off x="698090" y="629265"/>
            <a:ext cx="4198585" cy="584775"/>
          </a:xfrm>
          <a:prstGeom prst="rect">
            <a:avLst/>
          </a:prstGeom>
          <a:noFill/>
        </p:spPr>
        <p:txBody>
          <a:bodyPr wrap="non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Final Business Insights</a:t>
            </a:r>
            <a:endParaRPr lang="en-IN" sz="3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7242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7606F2-3F0D-778E-7171-DDF3027CCFC7}"/>
              </a:ext>
            </a:extLst>
          </p:cNvPr>
          <p:cNvSpPr txBox="1"/>
          <p:nvPr/>
        </p:nvSpPr>
        <p:spPr>
          <a:xfrm>
            <a:off x="855407" y="1700980"/>
            <a:ext cx="10304206" cy="430887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Product Strategy:</a:t>
            </a:r>
            <a:r>
              <a:rPr lang="en-US" sz="2000" dirty="0">
                <a:latin typeface="Times New Roman" panose="02020603050405020304" pitchFamily="18" charset="0"/>
                <a:cs typeface="Times New Roman" panose="02020603050405020304" pitchFamily="18" charset="0"/>
              </a:rPr>
              <a:t> Focus on top-selling items and improve visibility of slow-moving products through bundling or re-pricing.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Customer Strategy:</a:t>
            </a:r>
            <a:r>
              <a:rPr lang="en-US" sz="2000" dirty="0">
                <a:latin typeface="Times New Roman" panose="02020603050405020304" pitchFamily="18" charset="0"/>
                <a:cs typeface="Times New Roman" panose="02020603050405020304" pitchFamily="18" charset="0"/>
              </a:rPr>
              <a:t> Strengthen loyalty programs and target weekend shoppers with personalized offers.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Sales Growth:</a:t>
            </a:r>
            <a:r>
              <a:rPr lang="en-US" sz="2000" dirty="0">
                <a:latin typeface="Times New Roman" panose="02020603050405020304" pitchFamily="18" charset="0"/>
                <a:cs typeface="Times New Roman" panose="02020603050405020304" pitchFamily="18" charset="0"/>
              </a:rPr>
              <a:t> Run promotions during known peak periods and encourage cross-selling.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Operations:</a:t>
            </a:r>
            <a:r>
              <a:rPr lang="en-US" sz="2000" dirty="0">
                <a:latin typeface="Times New Roman" panose="02020603050405020304" pitchFamily="18" charset="0"/>
                <a:cs typeface="Times New Roman" panose="02020603050405020304" pitchFamily="18" charset="0"/>
              </a:rPr>
              <a:t> Improve inventory forecasting and identify and remove those slowdown or obstacles  in order processing.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Profit Strategy:</a:t>
            </a:r>
            <a:r>
              <a:rPr lang="en-US" sz="2000" dirty="0">
                <a:latin typeface="Times New Roman" panose="02020603050405020304" pitchFamily="18" charset="0"/>
                <a:cs typeface="Times New Roman" panose="02020603050405020304" pitchFamily="18" charset="0"/>
              </a:rPr>
              <a:t> Adjust pricing for low-demand items, use discounts smartly, and promote bundle deals to increase revenue.</a:t>
            </a:r>
          </a:p>
          <a:p>
            <a:endParaRPr lang="en-IN" dirty="0"/>
          </a:p>
        </p:txBody>
      </p:sp>
      <p:sp>
        <p:nvSpPr>
          <p:cNvPr id="3" name="TextBox 2">
            <a:extLst>
              <a:ext uri="{FF2B5EF4-FFF2-40B4-BE49-F238E27FC236}">
                <a16:creationId xmlns:a16="http://schemas.microsoft.com/office/drawing/2014/main" id="{D5CA5648-9073-967C-058B-85649A762A9E}"/>
              </a:ext>
            </a:extLst>
          </p:cNvPr>
          <p:cNvSpPr txBox="1"/>
          <p:nvPr/>
        </p:nvSpPr>
        <p:spPr>
          <a:xfrm>
            <a:off x="747252" y="776748"/>
            <a:ext cx="4230645" cy="584775"/>
          </a:xfrm>
          <a:prstGeom prst="rect">
            <a:avLst/>
          </a:prstGeom>
          <a:noFill/>
        </p:spPr>
        <p:txBody>
          <a:bodyPr wrap="non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Key Recommendations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2E665F0-7A92-EBE5-681E-8861839417D9}"/>
              </a:ext>
            </a:extLst>
          </p:cNvPr>
          <p:cNvSpPr>
            <a:spLocks noChangeArrowheads="1"/>
          </p:cNvSpPr>
          <p:nvPr/>
        </p:nvSpPr>
        <p:spPr bwMode="auto">
          <a:xfrm>
            <a:off x="1189703" y="237274"/>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49FD9147-FC7B-7EDD-B8F1-5CA22CC85F8B}"/>
              </a:ext>
            </a:extLst>
          </p:cNvPr>
          <p:cNvSpPr>
            <a:spLocks noChangeArrowheads="1"/>
          </p:cNvSpPr>
          <p:nvPr/>
        </p:nvSpPr>
        <p:spPr bwMode="auto">
          <a:xfrm>
            <a:off x="152400" y="-1707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3414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A27CD-E185-39ED-1F7D-38D6FA83724D}"/>
              </a:ext>
            </a:extLst>
          </p:cNvPr>
          <p:cNvSpPr>
            <a:spLocks noGrp="1"/>
          </p:cNvSpPr>
          <p:nvPr>
            <p:ph type="title"/>
          </p:nvPr>
        </p:nvSpPr>
        <p:spPr>
          <a:xfrm>
            <a:off x="838200" y="629265"/>
            <a:ext cx="10515600" cy="953730"/>
          </a:xfrm>
        </p:spPr>
        <p:txBody>
          <a:bodyPr>
            <a:normAutofit/>
          </a:bodyPr>
          <a:lstStyle/>
          <a:p>
            <a:r>
              <a:rPr lang="en-US" sz="3100" b="1" dirty="0">
                <a:solidFill>
                  <a:srgbClr val="FF0000"/>
                </a:solidFill>
              </a:rPr>
              <a:t>Challenges Faced During the SQL – Data Analysis Project</a:t>
            </a:r>
            <a:endParaRPr lang="en-IN" dirty="0"/>
          </a:p>
        </p:txBody>
      </p:sp>
      <p:sp>
        <p:nvSpPr>
          <p:cNvPr id="3" name="Text Placeholder 2">
            <a:extLst>
              <a:ext uri="{FF2B5EF4-FFF2-40B4-BE49-F238E27FC236}">
                <a16:creationId xmlns:a16="http://schemas.microsoft.com/office/drawing/2014/main" id="{D5B88873-CB70-BE8D-0EAB-2C098AC73585}"/>
              </a:ext>
            </a:extLst>
          </p:cNvPr>
          <p:cNvSpPr>
            <a:spLocks noGrp="1"/>
          </p:cNvSpPr>
          <p:nvPr>
            <p:ph type="body" idx="1"/>
          </p:nvPr>
        </p:nvSpPr>
        <p:spPr>
          <a:xfrm>
            <a:off x="838200" y="1683057"/>
            <a:ext cx="10515600" cy="4545678"/>
          </a:xfrm>
        </p:spPr>
        <p:txBody>
          <a:bodyPr>
            <a:normAutofit/>
          </a:bodyPr>
          <a:lstStyle/>
          <a:p>
            <a:pPr marL="114300" indent="0">
              <a:lnSpc>
                <a:spcPct val="150000"/>
              </a:lnSpc>
              <a:buNone/>
            </a:pPr>
            <a:r>
              <a:rPr lang="en-US" sz="2000" dirty="0">
                <a:latin typeface="Times New Roman" panose="02020603050405020304" pitchFamily="18" charset="0"/>
                <a:cs typeface="Times New Roman" panose="02020603050405020304" pitchFamily="18" charset="0"/>
              </a:rPr>
              <a:t>One of the main challenges we faced was ensuring data </a:t>
            </a:r>
            <a:r>
              <a:rPr lang="en-US" sz="2000" dirty="0" err="1">
                <a:latin typeface="Times New Roman" panose="02020603050405020304" pitchFamily="18" charset="0"/>
                <a:cs typeface="Times New Roman" panose="02020603050405020304" pitchFamily="18" charset="0"/>
              </a:rPr>
              <a:t>consistency.Especially</a:t>
            </a:r>
            <a:r>
              <a:rPr lang="en-US" sz="2000" dirty="0">
                <a:latin typeface="Times New Roman" panose="02020603050405020304" pitchFamily="18" charset="0"/>
                <a:cs typeface="Times New Roman" panose="02020603050405020304" pitchFamily="18" charset="0"/>
              </a:rPr>
              <a:t> converting string-based dates into proper SQL date formats. Another challenge was optimizing aggregation queries to avoid incorrect results caused by missing relationships or grouping errors. Interpreting the analytical output and converting it into meaningful business insights also required careful thinking. Overall, the project improved my SQL problem-solving skills and gave me practical exposure to end-to-end data analysis in a business scenario.</a:t>
            </a:r>
          </a:p>
          <a:p>
            <a:pPr marL="114300" indent="0">
              <a:buNone/>
            </a:pPr>
            <a:endParaRPr lang="en-IN" dirty="0"/>
          </a:p>
        </p:txBody>
      </p:sp>
    </p:spTree>
    <p:extLst>
      <p:ext uri="{BB962C8B-B14F-4D97-AF65-F5344CB8AC3E}">
        <p14:creationId xmlns:p14="http://schemas.microsoft.com/office/powerpoint/2010/main" val="33452312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513CD9-7266-7AAF-FD1C-996C355E37E0}"/>
              </a:ext>
            </a:extLst>
          </p:cNvPr>
          <p:cNvSpPr>
            <a:spLocks noGrp="1"/>
          </p:cNvSpPr>
          <p:nvPr>
            <p:ph type="title"/>
          </p:nvPr>
        </p:nvSpPr>
        <p:spPr>
          <a:xfrm>
            <a:off x="838200" y="681037"/>
            <a:ext cx="10515600" cy="1325563"/>
          </a:xfrm>
        </p:spPr>
        <p:txBody>
          <a:bodyPr>
            <a:normAutofit/>
          </a:bodyPr>
          <a:lstStyle/>
          <a:p>
            <a:r>
              <a:rPr lang="en-US" sz="3200" b="1" dirty="0">
                <a:solidFill>
                  <a:srgbClr val="FF0000"/>
                </a:solidFill>
                <a:latin typeface="+mj-lt"/>
              </a:rPr>
              <a:t>Conclusion</a:t>
            </a:r>
            <a:br>
              <a:rPr lang="en-US" sz="3200" b="1" dirty="0"/>
            </a:br>
            <a:endParaRPr lang="en-IN" sz="3200" dirty="0"/>
          </a:p>
        </p:txBody>
      </p:sp>
      <p:sp>
        <p:nvSpPr>
          <p:cNvPr id="4" name="Text Placeholder 3">
            <a:extLst>
              <a:ext uri="{FF2B5EF4-FFF2-40B4-BE49-F238E27FC236}">
                <a16:creationId xmlns:a16="http://schemas.microsoft.com/office/drawing/2014/main" id="{6F329CA0-2F4D-5D86-F8CD-6E924263D458}"/>
              </a:ext>
            </a:extLst>
          </p:cNvPr>
          <p:cNvSpPr>
            <a:spLocks noGrp="1"/>
          </p:cNvSpPr>
          <p:nvPr>
            <p:ph type="body" idx="1"/>
          </p:nvPr>
        </p:nvSpPr>
        <p:spPr>
          <a:xfrm>
            <a:off x="720213" y="1540490"/>
            <a:ext cx="10515600" cy="3660775"/>
          </a:xfrm>
        </p:spPr>
        <p:txBody>
          <a:bodyPr>
            <a:normAutofit/>
          </a:bodyPr>
          <a:lstStyle/>
          <a:p>
            <a:pPr marL="114300" indent="0">
              <a:lnSpc>
                <a:spcPct val="150000"/>
              </a:lnSpc>
              <a:buNone/>
            </a:pPr>
            <a:r>
              <a:rPr lang="en-US" sz="2000" dirty="0">
                <a:latin typeface="Times New Roman" panose="02020603050405020304" pitchFamily="18" charset="0"/>
                <a:cs typeface="Times New Roman" panose="02020603050405020304" pitchFamily="18" charset="0"/>
              </a:rPr>
              <a:t>The Grocery Store Management System successfully organizes core store operations in a structured and efficient manner. By using MySQL, the project provides a robust solution for managing customers, products, suppliers, employees, and transactional records. The analytical queries included in the system allow the store owner to understand sales performance, customer trends, and product profitability. Overall, the system enhances data accuracy, improves operational efficiency, and supports informed decision-making. It serves as a strong foundation for developing a full-fledged inventory or billing application in the future.</a:t>
            </a:r>
          </a:p>
        </p:txBody>
      </p:sp>
    </p:spTree>
    <p:extLst>
      <p:ext uri="{BB962C8B-B14F-4D97-AF65-F5344CB8AC3E}">
        <p14:creationId xmlns:p14="http://schemas.microsoft.com/office/powerpoint/2010/main" val="3602154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3082</TotalTime>
  <Words>997</Words>
  <Application>Microsoft Office PowerPoint</Application>
  <PresentationFormat>Widescreen</PresentationFormat>
  <Paragraphs>94</Paragraphs>
  <Slides>27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Wingdings</vt:lpstr>
      <vt:lpstr>Times New Roman</vt:lpstr>
      <vt:lpstr>Calibri</vt:lpstr>
      <vt:lpstr>Arial</vt:lpstr>
      <vt:lpstr>Libre Baskerville</vt:lpstr>
      <vt:lpstr>Office Theme</vt:lpstr>
      <vt:lpstr>PowerPoint Presentation</vt:lpstr>
      <vt:lpstr>PowerPoint Presentation</vt:lpstr>
      <vt:lpstr>Agenda</vt:lpstr>
      <vt:lpstr>Problem Statement</vt:lpstr>
      <vt:lpstr>PowerPoint Presentation</vt:lpstr>
      <vt:lpstr>PowerPoint Presentation</vt:lpstr>
      <vt:lpstr>Database Schema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 Faced During the SQL – Data Analysis Project</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THARUN KUMAR MARATI</cp:lastModifiedBy>
  <cp:revision>8</cp:revision>
  <dcterms:created xsi:type="dcterms:W3CDTF">2021-02-16T05:19:01Z</dcterms:created>
  <dcterms:modified xsi:type="dcterms:W3CDTF">2025-12-13T09:16:42Z</dcterms:modified>
</cp:coreProperties>
</file>